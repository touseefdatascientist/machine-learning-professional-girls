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46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2856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463040"/>
            <a:ext cx="5029200" cy="50292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846320"/>
            <a:ext cx="3657600" cy="3657600"/>
          </a:xfrm>
          <a:prstGeom prst="ellipse">
            <a:avLst/>
          </a:prstGeom>
          <a:solidFill>
            <a:srgbClr val="1E2761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CERTIFICATION TRAINING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 AI-901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Azure AI Fundamentals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22960" y="3657600"/>
            <a:ext cx="201168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886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</a:t>
            </a: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Touseef Ahmed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43434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Foundations of Artificial Intelligence &amp; the Azure AI Landscape</a:t>
            </a:r>
            <a:endParaRPr lang="en-US" sz="15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466344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YOUR TRAINER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Touseef Ahmed Abbasi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200400" cy="4434840"/>
          </a:xfrm>
          <a:prstGeom prst="roundRect">
            <a:avLst>
              <a:gd name="adj" fmla="val 3429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2651760"/>
            <a:ext cx="1280160" cy="1280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416052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Data Scientist &amp;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AI Strategist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14400" y="5577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Rawalpindi / Islamabad, Pakistan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114800" y="1691640"/>
            <a:ext cx="7223760" cy="749808"/>
          </a:xfrm>
          <a:prstGeom prst="roundRect">
            <a:avLst>
              <a:gd name="adj" fmla="val 9756"/>
            </a:avLst>
          </a:prstGeom>
          <a:solidFill>
            <a:srgbClr val="F7F8FC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9392" y="184708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892040" y="1746504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AI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892040" y="2075688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 Peoples Party (PPP) Secretariat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114800" y="2569464"/>
            <a:ext cx="7223760" cy="749808"/>
          </a:xfrm>
          <a:prstGeom prst="roundRect">
            <a:avLst>
              <a:gd name="adj" fmla="val 9756"/>
            </a:avLst>
          </a:prstGeom>
          <a:solidFill>
            <a:srgbClr val="F7F8FC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9392" y="2724912"/>
            <a:ext cx="420624" cy="42062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892040" y="2624328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Skill Development Lead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4892040" y="2953512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ML programs, TEVTA Punjab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114800" y="3447288"/>
            <a:ext cx="7223760" cy="749808"/>
          </a:xfrm>
          <a:prstGeom prst="roundRect">
            <a:avLst>
              <a:gd name="adj" fmla="val 9756"/>
            </a:avLst>
          </a:prstGeom>
          <a:solidFill>
            <a:srgbClr val="F7F8FC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9392" y="3602736"/>
            <a:ext cx="420624" cy="42062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892040" y="3502152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Trainer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4892040" y="3831336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ML Lead Program — CMSDI / TEVTA Punjab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4114800" y="4325112"/>
            <a:ext cx="7223760" cy="749808"/>
          </a:xfrm>
          <a:prstGeom prst="roundRect">
            <a:avLst>
              <a:gd name="adj" fmla="val 9756"/>
            </a:avLst>
          </a:prstGeom>
          <a:solidFill>
            <a:srgbClr val="F7F8FC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9392" y="4480560"/>
            <a:ext cx="420624" cy="42062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892040" y="4379976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Scientist &amp; Project Manager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4892040" y="470916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IBSS, London (UK-based firm)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4114800" y="5312664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 smtClean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r>
              <a:rPr lang="en-US" sz="2400" b="1" dirty="0" smtClean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400" dirty="0"/>
          </a:p>
        </p:txBody>
      </p:sp>
      <p:sp>
        <p:nvSpPr>
          <p:cNvPr id="25" name="Text 18"/>
          <p:cNvSpPr/>
          <p:nvPr/>
        </p:nvSpPr>
        <p:spPr>
          <a:xfrm>
            <a:off x="4114800" y="57332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Int'l Certifications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6537960" y="5312664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80,000+</a:t>
            </a:r>
            <a:endParaRPr lang="en-US" sz="2400" dirty="0"/>
          </a:p>
        </p:txBody>
      </p:sp>
      <p:sp>
        <p:nvSpPr>
          <p:cNvPr id="27" name="Text 20"/>
          <p:cNvSpPr/>
          <p:nvPr/>
        </p:nvSpPr>
        <p:spPr>
          <a:xfrm>
            <a:off x="6537960" y="57332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Trained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8961120" y="5312664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900+</a:t>
            </a:r>
            <a:endParaRPr lang="en-US" sz="2400" dirty="0"/>
          </a:p>
        </p:txBody>
      </p:sp>
      <p:sp>
        <p:nvSpPr>
          <p:cNvPr id="29" name="Text 22"/>
          <p:cNvSpPr/>
          <p:nvPr/>
        </p:nvSpPr>
        <p:spPr>
          <a:xfrm>
            <a:off x="8961120" y="57332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Placed in Jobs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4114800" y="6135624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Data Science (Gold Medalist), SZABIST </a:t>
            </a:r>
            <a:r>
              <a:rPr lang="en-US" sz="1100" i="1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Islamabad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Artificial Intelligence?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technology that enables computers to perform tasks that normally require human intelligence — perceiving, reasoning, learning, and generating.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6949440" cy="4297680"/>
          </a:xfrm>
          <a:prstGeom prst="roundRect">
            <a:avLst>
              <a:gd name="adj" fmla="val 3191"/>
            </a:avLst>
          </a:prstGeom>
          <a:solidFill>
            <a:srgbClr val="141B49"/>
          </a:solidFill>
          <a:ln/>
        </p:spPr>
      </p:sp>
      <p:sp>
        <p:nvSpPr>
          <p:cNvPr id="6" name="Shape 4"/>
          <p:cNvSpPr/>
          <p:nvPr/>
        </p:nvSpPr>
        <p:spPr>
          <a:xfrm>
            <a:off x="1600200" y="2674620"/>
            <a:ext cx="5394960" cy="3246120"/>
          </a:xfrm>
          <a:prstGeom prst="roundRect">
            <a:avLst>
              <a:gd name="adj" fmla="val 4225"/>
            </a:avLst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2377440" y="3200400"/>
            <a:ext cx="3840480" cy="2194560"/>
          </a:xfrm>
          <a:prstGeom prst="roundRect">
            <a:avLst>
              <a:gd name="adj" fmla="val 6250"/>
            </a:avLst>
          </a:prstGeom>
          <a:solidFill>
            <a:srgbClr val="3B4A94"/>
          </a:solidFill>
          <a:ln/>
        </p:spPr>
      </p:sp>
      <p:sp>
        <p:nvSpPr>
          <p:cNvPr id="8" name="Shape 6"/>
          <p:cNvSpPr/>
          <p:nvPr/>
        </p:nvSpPr>
        <p:spPr>
          <a:xfrm>
            <a:off x="3154680" y="3726180"/>
            <a:ext cx="2286000" cy="1143000"/>
          </a:xfrm>
          <a:prstGeom prst="roundRect">
            <a:avLst>
              <a:gd name="adj" fmla="val 12000"/>
            </a:avLst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331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874520" y="28575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51760" y="33832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54680" y="372618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13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2148840"/>
            <a:ext cx="384048" cy="38404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641080" y="209397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data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641080" y="240487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with experience instead of following fixed rules</a:t>
            </a:r>
            <a:endParaRPr lang="en-US" sz="105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3172968"/>
            <a:ext cx="384048" cy="38404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641080" y="311810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language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8641080" y="34290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Reads, translates, and generates human text</a:t>
            </a:r>
            <a:endParaRPr lang="en-US" sz="105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4197096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641080" y="41422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&amp; interprets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8641080" y="445312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Recognizes objects, faces, and scenes in images</a:t>
            </a:r>
            <a:endParaRPr lang="en-US" sz="105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2440" y="5221224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641080" y="516636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at cloud scale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8641080" y="5477256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via services like Microsoft Foundry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B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103120"/>
            <a:ext cx="5486400" cy="5486400"/>
          </a:xfrm>
          <a:prstGeom prst="ellipse">
            <a:avLst/>
          </a:prstGeom>
          <a:solidFill>
            <a:srgbClr val="1E2761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448495" y="4480560"/>
            <a:ext cx="4572000" cy="4572000"/>
          </a:xfrm>
          <a:prstGeom prst="ellipse">
            <a:avLst/>
          </a:prstGeom>
          <a:solidFill>
            <a:srgbClr val="1E2761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0116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514600"/>
            <a:ext cx="9601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 of Artificial Intelligence</a:t>
            </a:r>
            <a:endParaRPr lang="en-US" sz="3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the Azure AI Landscape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822960" y="4160520"/>
            <a:ext cx="201168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343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3 Hours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4946904"/>
            <a:ext cx="91440" cy="914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48188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vs. ML vs. DL vs. Generative AI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68680" y="5330952"/>
            <a:ext cx="91440" cy="914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520293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Foundry Platform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68680" y="5715000"/>
            <a:ext cx="91440" cy="914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558698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Business Scenarios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68680" y="6099048"/>
            <a:ext cx="91440" cy="914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5971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Portal Set-Up</a:t>
            </a:r>
            <a:endParaRPr lang="en-US" sz="140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0" y="457200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THEORY TO PRACTICE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Application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concept in this course is reinforced with a hands-on lab in Microsoft Foundry — you don't just learn AI, you build 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429000" cy="1874520"/>
          </a:xfrm>
          <a:prstGeom prst="roundRect">
            <a:avLst>
              <a:gd name="adj" fmla="val 4878"/>
            </a:avLst>
          </a:prstGeom>
          <a:solidFill>
            <a:srgbClr val="F7F8FC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40487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2532888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081528"/>
            <a:ext cx="2916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Real Apps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96112" y="3410712"/>
            <a:ext cx="2916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lightweight Python chat clients and agents using the Foundry SDK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89120" y="2148840"/>
            <a:ext cx="3429000" cy="1874520"/>
          </a:xfrm>
          <a:prstGeom prst="roundRect">
            <a:avLst>
              <a:gd name="adj" fmla="val 4878"/>
            </a:avLst>
          </a:prstGeom>
          <a:solidFill>
            <a:srgbClr val="F7F8FC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45152" y="240487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2532888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45152" y="3081528"/>
            <a:ext cx="2916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Live Models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645152" y="3410712"/>
            <a:ext cx="2916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and test generative AI models directly in the Foundry portal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138160" y="2148840"/>
            <a:ext cx="3429000" cy="1874520"/>
          </a:xfrm>
          <a:prstGeom prst="roundRect">
            <a:avLst>
              <a:gd name="adj" fmla="val 4878"/>
            </a:avLst>
          </a:prstGeom>
          <a:solidFill>
            <a:srgbClr val="F7F8FC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94192" y="240487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2208" y="2532888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94192" y="3081528"/>
            <a:ext cx="2916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Labs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394192" y="3410712"/>
            <a:ext cx="2916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hands-on with speech, vision, and image-generation capabilities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40080" y="4297680"/>
            <a:ext cx="3429000" cy="1874520"/>
          </a:xfrm>
          <a:prstGeom prst="roundRect">
            <a:avLst>
              <a:gd name="adj" fmla="val 4878"/>
            </a:avLst>
          </a:prstGeom>
          <a:solidFill>
            <a:srgbClr val="F7F8FC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96112" y="455371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128" y="4681728"/>
            <a:ext cx="310896" cy="31089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96112" y="5230368"/>
            <a:ext cx="2916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Real Data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896112" y="5559552"/>
            <a:ext cx="2916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Azure Content Understanding to pull structured data from documents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389120" y="4297680"/>
            <a:ext cx="3429000" cy="1874520"/>
          </a:xfrm>
          <a:prstGeom prst="roundRect">
            <a:avLst>
              <a:gd name="adj" fmla="val 4878"/>
            </a:avLst>
          </a:prstGeom>
          <a:solidFill>
            <a:srgbClr val="F7F8FC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645152" y="455371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3168" y="4681728"/>
            <a:ext cx="310896" cy="31089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645152" y="5230368"/>
            <a:ext cx="2916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Responsible AI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4645152" y="5559552"/>
            <a:ext cx="2916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every solution through a fairness, safety &amp; privacy checklist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8138160" y="4297680"/>
            <a:ext cx="3429000" cy="1874520"/>
          </a:xfrm>
          <a:prstGeom prst="roundRect">
            <a:avLst>
              <a:gd name="adj" fmla="val 4878"/>
            </a:avLst>
          </a:prstGeom>
          <a:solidFill>
            <a:srgbClr val="F7F8FC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394192" y="455371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22208" y="4681728"/>
            <a:ext cx="310896" cy="31089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394192" y="5230368"/>
            <a:ext cx="2916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8394192" y="5559552"/>
            <a:ext cx="2916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present an end-to-end AI solution for a real business case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WORKSPACE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Azure Portal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single, web-based console (portal.azure.com) for creating, managing, and monitoring every Azure resource — including your AI workloads.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120640" cy="4114800"/>
          </a:xfrm>
          <a:prstGeom prst="roundRect">
            <a:avLst>
              <a:gd name="adj" fmla="val 1778"/>
            </a:avLst>
          </a:prstGeom>
          <a:solidFill>
            <a:srgbClr val="F7F8FC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148840"/>
            <a:ext cx="5120640" cy="411480"/>
          </a:xfrm>
          <a:prstGeom prst="rect">
            <a:avLst/>
          </a:prstGeom>
          <a:solidFill>
            <a:srgbClr val="141B49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231343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1124712" y="231343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380744" y="231343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920240" y="215798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portal.azure.com</a:t>
            </a:r>
            <a:endParaRPr lang="en-US" sz="11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880360"/>
            <a:ext cx="822960" cy="8229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011680" y="297180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Console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Azure Service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960120" y="4041648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4" name="Text 11"/>
          <p:cNvSpPr/>
          <p:nvPr/>
        </p:nvSpPr>
        <p:spPr>
          <a:xfrm>
            <a:off x="1170432" y="3904488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manage AI resources (Foundry, Cognitive Services)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960120" y="4572000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6" name="Text 13"/>
          <p:cNvSpPr/>
          <p:nvPr/>
        </p:nvSpPr>
        <p:spPr>
          <a:xfrm>
            <a:off x="1170432" y="443484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cost, usage &amp; subscriptions in real time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960120" y="5102352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8" name="Text 15"/>
          <p:cNvSpPr/>
          <p:nvPr/>
        </p:nvSpPr>
        <p:spPr>
          <a:xfrm>
            <a:off x="1170432" y="4965192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security, roles &amp; access control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960120" y="5632704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0" name="Text 17"/>
          <p:cNvSpPr/>
          <p:nvPr/>
        </p:nvSpPr>
        <p:spPr>
          <a:xfrm>
            <a:off x="1170432" y="5495544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deployed models and endpoints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080760" y="2148840"/>
            <a:ext cx="2651760" cy="1920240"/>
          </a:xfrm>
          <a:prstGeom prst="roundRect">
            <a:avLst>
              <a:gd name="adj" fmla="val 4762"/>
            </a:avLst>
          </a:prstGeom>
          <a:solidFill>
            <a:srgbClr val="1E2761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2377440"/>
            <a:ext cx="384048" cy="38404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6309360" y="2926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Subscriptions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6309360" y="3264408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&amp; access boundary for your Azure resources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9006840" y="2148840"/>
            <a:ext cx="2651760" cy="1920240"/>
          </a:xfrm>
          <a:prstGeom prst="roundRect">
            <a:avLst>
              <a:gd name="adj" fmla="val 4762"/>
            </a:avLst>
          </a:prstGeom>
          <a:solidFill>
            <a:srgbClr val="1E2761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0" y="2377440"/>
            <a:ext cx="384048" cy="38404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235440" y="2926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Groups</a:t>
            </a:r>
            <a:endParaRPr lang="en-US" sz="1350" dirty="0"/>
          </a:p>
        </p:txBody>
      </p:sp>
      <p:sp>
        <p:nvSpPr>
          <p:cNvPr id="28" name="Text 23"/>
          <p:cNvSpPr/>
          <p:nvPr/>
        </p:nvSpPr>
        <p:spPr>
          <a:xfrm>
            <a:off x="9235440" y="3264408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containers that organize related resources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6080760" y="4343400"/>
            <a:ext cx="2651760" cy="1920240"/>
          </a:xfrm>
          <a:prstGeom prst="roundRect">
            <a:avLst>
              <a:gd name="adj" fmla="val 4762"/>
            </a:avLst>
          </a:prstGeom>
          <a:solidFill>
            <a:srgbClr val="1E2761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4572000"/>
            <a:ext cx="384048" cy="38404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309360" y="51206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Resource</a:t>
            </a:r>
            <a:endParaRPr lang="en-US" sz="1350" dirty="0"/>
          </a:p>
        </p:txBody>
      </p:sp>
      <p:sp>
        <p:nvSpPr>
          <p:cNvPr id="32" name="Text 26"/>
          <p:cNvSpPr/>
          <p:nvPr/>
        </p:nvSpPr>
        <p:spPr>
          <a:xfrm>
            <a:off x="6309360" y="5458968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your AI projects, models &amp; agents</a:t>
            </a:r>
            <a:endParaRPr lang="en-US" sz="1050" dirty="0"/>
          </a:p>
        </p:txBody>
      </p:sp>
      <p:sp>
        <p:nvSpPr>
          <p:cNvPr id="33" name="Shape 27"/>
          <p:cNvSpPr/>
          <p:nvPr/>
        </p:nvSpPr>
        <p:spPr>
          <a:xfrm>
            <a:off x="9006840" y="4343400"/>
            <a:ext cx="2651760" cy="1920240"/>
          </a:xfrm>
          <a:prstGeom prst="roundRect">
            <a:avLst>
              <a:gd name="adj" fmla="val 4762"/>
            </a:avLst>
          </a:prstGeom>
          <a:solidFill>
            <a:srgbClr val="1E2761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5440" y="4572000"/>
            <a:ext cx="384048" cy="384048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9235440" y="51206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(IAM)</a:t>
            </a:r>
            <a:endParaRPr lang="en-US" sz="1350" dirty="0"/>
          </a:p>
        </p:txBody>
      </p:sp>
      <p:sp>
        <p:nvSpPr>
          <p:cNvPr id="36" name="Text 29"/>
          <p:cNvSpPr/>
          <p:nvPr/>
        </p:nvSpPr>
        <p:spPr>
          <a:xfrm>
            <a:off x="9235440" y="5458968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permissions for secure collaboration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451</Words>
  <Application>Microsoft Office PowerPoint</Application>
  <PresentationFormat>Widescreen</PresentationFormat>
  <Paragraphs>87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Exam AI-901: Microsoft Azure AI Fundamentals</dc:title>
  <dc:subject>PptxGenJS Presentation</dc:subject>
  <dc:creator>Touseef Ahmed Abbasi</dc:creator>
  <cp:lastModifiedBy>Microsoft account</cp:lastModifiedBy>
  <cp:revision>2</cp:revision>
  <dcterms:created xsi:type="dcterms:W3CDTF">2026-07-01T20:17:41Z</dcterms:created>
  <dcterms:modified xsi:type="dcterms:W3CDTF">2026-07-01T20:19:44Z</dcterms:modified>
</cp:coreProperties>
</file>