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78" r:id="rId3"/>
    <p:sldId id="275" r:id="rId4"/>
    <p:sldId id="277" r:id="rId5"/>
    <p:sldId id="276" r:id="rId6"/>
    <p:sldId id="274" r:id="rId7"/>
    <p:sldId id="273" r:id="rId8"/>
    <p:sldId id="27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E2A23-AFD1-4761-BCBD-6A0576487DF7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D85AA-5567-4F83-80E9-22FBD87E62A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E2A23-AFD1-4761-BCBD-6A0576487DF7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D85AA-5567-4F83-80E9-22FBD87E62A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E2A23-AFD1-4761-BCBD-6A0576487DF7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D85AA-5567-4F83-80E9-22FBD87E62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E2A23-AFD1-4761-BCBD-6A0576487DF7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D85AA-5567-4F83-80E9-22FBD87E62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E2A23-AFD1-4761-BCBD-6A0576487DF7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D85AA-5567-4F83-80E9-22FBD87E62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E2A23-AFD1-4761-BCBD-6A0576487DF7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D85AA-5567-4F83-80E9-22FBD87E62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E2A23-AFD1-4761-BCBD-6A0576487DF7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D85AA-5567-4F83-80E9-22FBD87E62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E2A23-AFD1-4761-BCBD-6A0576487DF7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D85AA-5567-4F83-80E9-22FBD87E62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E2A23-AFD1-4761-BCBD-6A0576487DF7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D85AA-5567-4F83-80E9-22FBD87E62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E2A23-AFD1-4761-BCBD-6A0576487DF7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D85AA-5567-4F83-80E9-22FBD87E62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E2A23-AFD1-4761-BCBD-6A0576487DF7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D85AA-5567-4F83-80E9-22FBD87E62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31AE2A23-AFD1-4761-BCBD-6A0576487DF7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02ED85AA-5567-4F83-80E9-22FBD87E62A8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810000"/>
            <a:ext cx="6705600" cy="2743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6527" y="1066800"/>
            <a:ext cx="7772400" cy="1981200"/>
          </a:xfrm>
        </p:spPr>
        <p:txBody>
          <a:bodyPr/>
          <a:lstStyle/>
          <a:p>
            <a:r>
              <a:rPr lang="en-US" sz="4400" b="1" dirty="0" smtClean="0"/>
              <a:t>AI &amp; Machine Learning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sz="3600" dirty="0" smtClean="0"/>
              <a:t>Week 3 </a:t>
            </a:r>
            <a:br>
              <a:rPr lang="en-US" sz="3600" dirty="0" smtClean="0"/>
            </a:br>
            <a:r>
              <a:rPr lang="en-US" sz="3600" dirty="0" smtClean="0"/>
              <a:t>Lecture</a:t>
            </a: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514600"/>
            <a:ext cx="80010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693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REGRESSION MATRICS</a:t>
            </a:r>
            <a:endParaRPr lang="en-US" dirty="0"/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752600"/>
            <a:ext cx="2172003" cy="2667000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2219390"/>
            <a:ext cx="3581400" cy="166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14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Confusion Matrix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426055242"/>
              </p:ext>
            </p:extLst>
          </p:nvPr>
        </p:nvGraphicFramePr>
        <p:xfrm>
          <a:off x="609600" y="1600200"/>
          <a:ext cx="7924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4800">
                  <a:extLst>
                    <a:ext uri="{9D8B030D-6E8A-4147-A177-3AD203B41FA5}">
                      <a16:colId xmlns:a16="http://schemas.microsoft.com/office/drawing/2014/main" val="3032230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Predicted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76598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086474"/>
              </p:ext>
            </p:extLst>
          </p:nvPr>
        </p:nvGraphicFramePr>
        <p:xfrm>
          <a:off x="609600" y="1971040"/>
          <a:ext cx="422564" cy="117688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22564">
                  <a:extLst>
                    <a:ext uri="{9D8B030D-6E8A-4147-A177-3AD203B41FA5}">
                      <a16:colId xmlns:a16="http://schemas.microsoft.com/office/drawing/2014/main" val="670215092"/>
                    </a:ext>
                  </a:extLst>
                </a:gridCol>
              </a:tblGrid>
              <a:tr h="1176886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 smtClean="0"/>
                        <a:t>Actual</a:t>
                      </a:r>
                      <a:endParaRPr lang="en-US" sz="2000" b="1" i="0" dirty="0"/>
                    </a:p>
                  </a:txBody>
                  <a:tcPr vert="vert"/>
                </a:tc>
                <a:extLst>
                  <a:ext uri="{0D108BD9-81ED-4DB2-BD59-A6C34878D82A}">
                    <a16:rowId xmlns:a16="http://schemas.microsoft.com/office/drawing/2014/main" val="4276085135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067504"/>
              </p:ext>
            </p:extLst>
          </p:nvPr>
        </p:nvGraphicFramePr>
        <p:xfrm>
          <a:off x="1052946" y="1971040"/>
          <a:ext cx="7481454" cy="54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3818">
                  <a:extLst>
                    <a:ext uri="{9D8B030D-6E8A-4147-A177-3AD203B41FA5}">
                      <a16:colId xmlns:a16="http://schemas.microsoft.com/office/drawing/2014/main" val="438942793"/>
                    </a:ext>
                  </a:extLst>
                </a:gridCol>
                <a:gridCol w="2493818">
                  <a:extLst>
                    <a:ext uri="{9D8B030D-6E8A-4147-A177-3AD203B41FA5}">
                      <a16:colId xmlns:a16="http://schemas.microsoft.com/office/drawing/2014/main" val="722480515"/>
                    </a:ext>
                  </a:extLst>
                </a:gridCol>
                <a:gridCol w="2493818">
                  <a:extLst>
                    <a:ext uri="{9D8B030D-6E8A-4147-A177-3AD203B41FA5}">
                      <a16:colId xmlns:a16="http://schemas.microsoft.com/office/drawing/2014/main" val="3878548301"/>
                    </a:ext>
                  </a:extLst>
                </a:gridCol>
              </a:tblGrid>
              <a:tr h="54356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63534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222596"/>
              </p:ext>
            </p:extLst>
          </p:nvPr>
        </p:nvGraphicFramePr>
        <p:xfrm>
          <a:off x="1059871" y="2374063"/>
          <a:ext cx="7474528" cy="591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8632">
                  <a:extLst>
                    <a:ext uri="{9D8B030D-6E8A-4147-A177-3AD203B41FA5}">
                      <a16:colId xmlns:a16="http://schemas.microsoft.com/office/drawing/2014/main" val="2599476127"/>
                    </a:ext>
                  </a:extLst>
                </a:gridCol>
                <a:gridCol w="1868632">
                  <a:extLst>
                    <a:ext uri="{9D8B030D-6E8A-4147-A177-3AD203B41FA5}">
                      <a16:colId xmlns:a16="http://schemas.microsoft.com/office/drawing/2014/main" val="2671359860"/>
                    </a:ext>
                  </a:extLst>
                </a:gridCol>
                <a:gridCol w="1868632">
                  <a:extLst>
                    <a:ext uri="{9D8B030D-6E8A-4147-A177-3AD203B41FA5}">
                      <a16:colId xmlns:a16="http://schemas.microsoft.com/office/drawing/2014/main" val="3558438834"/>
                    </a:ext>
                  </a:extLst>
                </a:gridCol>
                <a:gridCol w="1868632">
                  <a:extLst>
                    <a:ext uri="{9D8B030D-6E8A-4147-A177-3AD203B41FA5}">
                      <a16:colId xmlns:a16="http://schemas.microsoft.com/office/drawing/2014/main" val="3752674580"/>
                    </a:ext>
                  </a:extLst>
                </a:gridCol>
              </a:tblGrid>
              <a:tr h="59189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TN    (50)</a:t>
                      </a:r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FP        (10)</a:t>
                      </a:r>
                      <a:endParaRPr lang="en-US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869986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760786"/>
              </p:ext>
            </p:extLst>
          </p:nvPr>
        </p:nvGraphicFramePr>
        <p:xfrm>
          <a:off x="1059871" y="2965955"/>
          <a:ext cx="750223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559">
                  <a:extLst>
                    <a:ext uri="{9D8B030D-6E8A-4147-A177-3AD203B41FA5}">
                      <a16:colId xmlns:a16="http://schemas.microsoft.com/office/drawing/2014/main" val="2413765936"/>
                    </a:ext>
                  </a:extLst>
                </a:gridCol>
                <a:gridCol w="1875559">
                  <a:extLst>
                    <a:ext uri="{9D8B030D-6E8A-4147-A177-3AD203B41FA5}">
                      <a16:colId xmlns:a16="http://schemas.microsoft.com/office/drawing/2014/main" val="323820323"/>
                    </a:ext>
                  </a:extLst>
                </a:gridCol>
                <a:gridCol w="1875559">
                  <a:extLst>
                    <a:ext uri="{9D8B030D-6E8A-4147-A177-3AD203B41FA5}">
                      <a16:colId xmlns:a16="http://schemas.microsoft.com/office/drawing/2014/main" val="2499667383"/>
                    </a:ext>
                  </a:extLst>
                </a:gridCol>
                <a:gridCol w="1875559">
                  <a:extLst>
                    <a:ext uri="{9D8B030D-6E8A-4147-A177-3AD203B41FA5}">
                      <a16:colId xmlns:a16="http://schemas.microsoft.com/office/drawing/2014/main" val="390842017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FN     (5)</a:t>
                      </a:r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TP         (100)</a:t>
                      </a:r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51261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962635"/>
              </p:ext>
            </p:extLst>
          </p:nvPr>
        </p:nvGraphicFramePr>
        <p:xfrm>
          <a:off x="2992582" y="3912870"/>
          <a:ext cx="1801091" cy="613034"/>
        </p:xfrm>
        <a:graphic>
          <a:graphicData uri="http://schemas.openxmlformats.org/drawingml/2006/table">
            <a:tbl>
              <a:tblPr/>
              <a:tblGrid>
                <a:gridCol w="1801091">
                  <a:extLst>
                    <a:ext uri="{9D8B030D-6E8A-4147-A177-3AD203B41FA5}">
                      <a16:colId xmlns:a16="http://schemas.microsoft.com/office/drawing/2014/main" val="1744251376"/>
                    </a:ext>
                  </a:extLst>
                </a:gridCol>
              </a:tblGrid>
              <a:tr h="61303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55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599589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134982"/>
              </p:ext>
            </p:extLst>
          </p:nvPr>
        </p:nvGraphicFramePr>
        <p:xfrm>
          <a:off x="4824844" y="3910503"/>
          <a:ext cx="1877291" cy="615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291">
                  <a:extLst>
                    <a:ext uri="{9D8B030D-6E8A-4147-A177-3AD203B41FA5}">
                      <a16:colId xmlns:a16="http://schemas.microsoft.com/office/drawing/2014/main" val="2807245775"/>
                    </a:ext>
                  </a:extLst>
                </a:gridCol>
              </a:tblGrid>
              <a:tr h="61540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356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1870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KNN </a:t>
            </a:r>
            <a:r>
              <a:rPr lang="en-US" b="1" dirty="0"/>
              <a:t>k-nearest neighbors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X=(Math=6,CS=8,Pass=?</a:t>
            </a:r>
          </a:p>
          <a:p>
            <a:pPr marL="0" indent="0" algn="ctr">
              <a:buNone/>
            </a:pPr>
            <a:r>
              <a:rPr lang="en-US" sz="2400" b="1" dirty="0" smtClean="0"/>
              <a:t>K=3</a:t>
            </a:r>
          </a:p>
          <a:p>
            <a:endParaRPr lang="en-US" sz="20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983589"/>
              </p:ext>
            </p:extLst>
          </p:nvPr>
        </p:nvGraphicFramePr>
        <p:xfrm>
          <a:off x="1066800" y="2545080"/>
          <a:ext cx="6096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808428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3313695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88188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Math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CS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Result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479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4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3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Fail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17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6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7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Pass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278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7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8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Pass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953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5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5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Fail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253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8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8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Pass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9674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3964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792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094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370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857221"/>
      </p:ext>
    </p:extLst>
  </p:cSld>
  <p:clrMapOvr>
    <a:masterClrMapping/>
  </p:clrMapOvr>
</p:sld>
</file>

<file path=ppt/theme/theme1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435</TotalTime>
  <Words>62</Words>
  <Application>Microsoft Office PowerPoint</Application>
  <PresentationFormat>On-screen Show (4:3)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Arial Narrow</vt:lpstr>
      <vt:lpstr>Horizon</vt:lpstr>
      <vt:lpstr>AI &amp; Machine Learning   Week 3  Lecture </vt:lpstr>
      <vt:lpstr>LINEAR REGRESSION MATRICS</vt:lpstr>
      <vt:lpstr>Confusion Matrix</vt:lpstr>
      <vt:lpstr>KNN k-nearest neighbors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&amp; Machine Learning   Lecture 1</dc:title>
  <dc:creator>hp</dc:creator>
  <cp:lastModifiedBy>User</cp:lastModifiedBy>
  <cp:revision>16</cp:revision>
  <dcterms:created xsi:type="dcterms:W3CDTF">2024-05-14T03:55:50Z</dcterms:created>
  <dcterms:modified xsi:type="dcterms:W3CDTF">2024-05-31T12:38:27Z</dcterms:modified>
</cp:coreProperties>
</file>