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3"/>
  </p:notesMasterIdLst>
  <p:sldIdLst>
    <p:sldId id="256" r:id="rId2"/>
    <p:sldId id="257" r:id="rId3"/>
    <p:sldId id="258" r:id="rId4"/>
    <p:sldId id="259" r:id="rId5"/>
    <p:sldId id="277" r:id="rId6"/>
    <p:sldId id="278" r:id="rId7"/>
    <p:sldId id="260" r:id="rId8"/>
    <p:sldId id="279" r:id="rId9"/>
    <p:sldId id="261" r:id="rId10"/>
    <p:sldId id="262" r:id="rId11"/>
    <p:sldId id="280" r:id="rId12"/>
    <p:sldId id="263" r:id="rId13"/>
    <p:sldId id="264" r:id="rId14"/>
    <p:sldId id="265" r:id="rId15"/>
    <p:sldId id="266" r:id="rId16"/>
    <p:sldId id="267" r:id="rId17"/>
    <p:sldId id="268" r:id="rId18"/>
    <p:sldId id="270" r:id="rId19"/>
    <p:sldId id="271" r:id="rId20"/>
    <p:sldId id="281" r:id="rId21"/>
    <p:sldId id="324" r:id="rId22"/>
    <p:sldId id="272" r:id="rId23"/>
    <p:sldId id="282" r:id="rId24"/>
    <p:sldId id="273" r:id="rId25"/>
    <p:sldId id="274" r:id="rId26"/>
    <p:sldId id="275" r:id="rId27"/>
    <p:sldId id="283" r:id="rId28"/>
    <p:sldId id="325" r:id="rId29"/>
    <p:sldId id="284" r:id="rId30"/>
    <p:sldId id="305" r:id="rId31"/>
    <p:sldId id="285" r:id="rId32"/>
    <p:sldId id="286" r:id="rId33"/>
    <p:sldId id="310" r:id="rId34"/>
    <p:sldId id="287" r:id="rId35"/>
    <p:sldId id="312" r:id="rId36"/>
    <p:sldId id="313" r:id="rId37"/>
    <p:sldId id="288" r:id="rId38"/>
    <p:sldId id="311" r:id="rId39"/>
    <p:sldId id="316" r:id="rId40"/>
    <p:sldId id="314" r:id="rId41"/>
    <p:sldId id="317" r:id="rId42"/>
    <p:sldId id="315" r:id="rId43"/>
    <p:sldId id="309" r:id="rId44"/>
    <p:sldId id="318" r:id="rId45"/>
    <p:sldId id="289" r:id="rId46"/>
    <p:sldId id="319" r:id="rId47"/>
    <p:sldId id="320" r:id="rId48"/>
    <p:sldId id="321" r:id="rId49"/>
    <p:sldId id="322" r:id="rId50"/>
    <p:sldId id="358" r:id="rId51"/>
    <p:sldId id="307" r:id="rId52"/>
    <p:sldId id="291" r:id="rId53"/>
    <p:sldId id="326" r:id="rId54"/>
    <p:sldId id="327" r:id="rId55"/>
    <p:sldId id="292" r:id="rId56"/>
    <p:sldId id="328" r:id="rId57"/>
    <p:sldId id="329" r:id="rId58"/>
    <p:sldId id="332" r:id="rId59"/>
    <p:sldId id="330" r:id="rId60"/>
    <p:sldId id="331" r:id="rId61"/>
    <p:sldId id="345" r:id="rId62"/>
    <p:sldId id="346" r:id="rId63"/>
    <p:sldId id="293" r:id="rId64"/>
    <p:sldId id="333" r:id="rId65"/>
    <p:sldId id="334" r:id="rId66"/>
    <p:sldId id="347" r:id="rId67"/>
    <p:sldId id="335" r:id="rId68"/>
    <p:sldId id="336" r:id="rId69"/>
    <p:sldId id="337" r:id="rId70"/>
    <p:sldId id="338" r:id="rId71"/>
    <p:sldId id="340" r:id="rId72"/>
    <p:sldId id="348" r:id="rId73"/>
    <p:sldId id="339" r:id="rId74"/>
    <p:sldId id="341" r:id="rId75"/>
    <p:sldId id="343" r:id="rId76"/>
    <p:sldId id="344" r:id="rId77"/>
    <p:sldId id="342" r:id="rId78"/>
    <p:sldId id="357" r:id="rId79"/>
    <p:sldId id="294" r:id="rId80"/>
    <p:sldId id="295" r:id="rId81"/>
    <p:sldId id="296" r:id="rId82"/>
    <p:sldId id="349" r:id="rId83"/>
    <p:sldId id="356" r:id="rId84"/>
    <p:sldId id="297" r:id="rId85"/>
    <p:sldId id="350" r:id="rId86"/>
    <p:sldId id="352" r:id="rId87"/>
    <p:sldId id="298" r:id="rId88"/>
    <p:sldId id="359" r:id="rId89"/>
    <p:sldId id="360" r:id="rId90"/>
    <p:sldId id="355" r:id="rId91"/>
    <p:sldId id="299" r:id="rId92"/>
    <p:sldId id="362" r:id="rId93"/>
    <p:sldId id="300" r:id="rId94"/>
    <p:sldId id="363" r:id="rId95"/>
    <p:sldId id="361" r:id="rId96"/>
    <p:sldId id="301" r:id="rId97"/>
    <p:sldId id="364" r:id="rId98"/>
    <p:sldId id="365" r:id="rId99"/>
    <p:sldId id="366" r:id="rId100"/>
    <p:sldId id="302" r:id="rId101"/>
    <p:sldId id="303" r:id="rId102"/>
    <p:sldId id="304" r:id="rId103"/>
    <p:sldId id="388" r:id="rId104"/>
    <p:sldId id="308" r:id="rId105"/>
    <p:sldId id="389" r:id="rId106"/>
    <p:sldId id="391" r:id="rId107"/>
    <p:sldId id="369" r:id="rId108"/>
    <p:sldId id="370" r:id="rId109"/>
    <p:sldId id="371" r:id="rId110"/>
    <p:sldId id="378" r:id="rId111"/>
    <p:sldId id="379" r:id="rId112"/>
    <p:sldId id="380" r:id="rId113"/>
    <p:sldId id="372" r:id="rId114"/>
    <p:sldId id="384" r:id="rId115"/>
    <p:sldId id="374" r:id="rId116"/>
    <p:sldId id="385" r:id="rId117"/>
    <p:sldId id="375" r:id="rId118"/>
    <p:sldId id="386" r:id="rId119"/>
    <p:sldId id="381" r:id="rId120"/>
    <p:sldId id="376" r:id="rId121"/>
    <p:sldId id="390" r:id="rId1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2" autoAdjust="0"/>
    <p:restoredTop sz="94660"/>
  </p:normalViewPr>
  <p:slideViewPr>
    <p:cSldViewPr>
      <p:cViewPr varScale="1">
        <p:scale>
          <a:sx n="83" d="100"/>
          <a:sy n="83" d="100"/>
        </p:scale>
        <p:origin x="144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013A70-41E4-48E0-B4AA-02D7DC72D3D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CB6917-FA11-4585-9BDE-14911B38C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72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CB6917-FA11-4585-9BDE-14911B38CA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3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E1F336AD-3E45-498D-8BAB-E98239C062AF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0AB7DAFB-2FEB-459B-9D7A-4C312BB215B1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en-us/videoplayer/embed/RE4vyDj?postJsllMsg=tru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training/modules/get-started-ai-fundamentals/8a-understand-responsible-ai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SH4soR1O7fY?t=142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QBVzZBsif20?t=187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vMjy5rdBU8?t=9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gkNccYwtAbU?t=296" TargetMode="Externa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657600"/>
            <a:ext cx="6400800" cy="3505200"/>
          </a:xfrm>
        </p:spPr>
        <p:txBody>
          <a:bodyPr>
            <a:normAutofit fontScale="25000" lnSpcReduction="20000"/>
          </a:bodyPr>
          <a:lstStyle/>
          <a:p>
            <a:endParaRPr lang="en-US" sz="6000" b="1" dirty="0"/>
          </a:p>
          <a:p>
            <a:r>
              <a:rPr lang="en-US" sz="10400" b="1" dirty="0"/>
              <a:t>Understand natural language processing (NLP) </a:t>
            </a:r>
          </a:p>
          <a:p>
            <a:r>
              <a:rPr lang="en-US" sz="10400" b="1" dirty="0"/>
              <a:t>Understand document intelligence and knowledge mining</a:t>
            </a:r>
          </a:p>
          <a:p>
            <a:r>
              <a:rPr lang="en-US" sz="10400" b="1" dirty="0"/>
              <a:t>Understand generative AI</a:t>
            </a:r>
          </a:p>
          <a:p>
            <a:r>
              <a:rPr lang="en-US" sz="10400" b="1" dirty="0"/>
              <a:t>Challenges and risks with AI</a:t>
            </a:r>
          </a:p>
          <a:p>
            <a:r>
              <a:rPr lang="en-US" sz="10400" b="1" dirty="0"/>
              <a:t>Understand responsible AI</a:t>
            </a:r>
          </a:p>
          <a:p>
            <a:endParaRPr lang="en-US" sz="8000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2743201"/>
          </a:xfrm>
        </p:spPr>
        <p:txBody>
          <a:bodyPr/>
          <a:lstStyle/>
          <a:p>
            <a:r>
              <a:rPr lang="en-US" sz="4800" b="1" dirty="0"/>
              <a:t>Artificial intelligence &amp; machine learning</a:t>
            </a:r>
            <a:br>
              <a:rPr lang="en-US" sz="4800" b="1" dirty="0"/>
            </a:br>
            <a:r>
              <a:rPr lang="en-US" sz="5400" b="1" dirty="0"/>
              <a:t>lecture #3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051336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Understand natural language processing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3600" b="1" dirty="0"/>
              <a:t>Natural language processing (NLP) is the area of AI that deals with creating software that understands written and spoken language.</a:t>
            </a:r>
          </a:p>
        </p:txBody>
      </p:sp>
    </p:spTree>
    <p:extLst>
      <p:ext uri="{BB962C8B-B14F-4D97-AF65-F5344CB8AC3E}">
        <p14:creationId xmlns:p14="http://schemas.microsoft.com/office/powerpoint/2010/main" val="407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Understand natural language 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/>
              <a:t>NLP enables you to create software that can</a:t>
            </a:r>
            <a:r>
              <a:rPr lang="en-US" sz="2800" dirty="0"/>
              <a:t>:</a:t>
            </a:r>
          </a:p>
          <a:p>
            <a:r>
              <a:rPr lang="en-US" sz="2800" dirty="0"/>
              <a:t>Analyze and interpret text in documents, email messages, and other sources.</a:t>
            </a:r>
          </a:p>
          <a:p>
            <a:r>
              <a:rPr lang="en-US" sz="2800" dirty="0"/>
              <a:t>Interpret spoken language, and synthesize speech responses.</a:t>
            </a:r>
          </a:p>
          <a:p>
            <a:r>
              <a:rPr lang="en-US" sz="2800" dirty="0"/>
              <a:t>Automatically translate spoken or written phrases between languages.</a:t>
            </a:r>
          </a:p>
          <a:p>
            <a:r>
              <a:rPr lang="en-US" sz="2800" dirty="0"/>
              <a:t>Interpret commands and determine appropriate actions.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66960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Understand natural language processing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For example, </a:t>
            </a:r>
            <a:r>
              <a:rPr lang="en-US" sz="2800" i="1" dirty="0"/>
              <a:t>Starship Commander</a:t>
            </a:r>
            <a:r>
              <a:rPr lang="en-US" sz="2800" dirty="0"/>
              <a:t> is a virtual reality (VR) game from Human Interact that takes place in a science fiction world. </a:t>
            </a:r>
          </a:p>
          <a:p>
            <a:r>
              <a:rPr lang="en-US" sz="2800" dirty="0"/>
              <a:t>Video (</a:t>
            </a:r>
            <a:r>
              <a:rPr lang="en-US" sz="2800" dirty="0">
                <a:hlinkClick r:id="rId2"/>
              </a:rPr>
              <a:t>https://www.microsoft.com/en-us/videoplayer/embed/RE4vyDj?postJsllMsg=true</a:t>
            </a:r>
            <a:r>
              <a:rPr lang="en-US" sz="2800" dirty="0"/>
              <a:t>)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29687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Natural language processing in Microsoft Azure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Microsoft's </a:t>
            </a:r>
            <a:r>
              <a:rPr lang="en-US" sz="3600" b="1" dirty="0"/>
              <a:t>Azure AI Speech</a:t>
            </a:r>
            <a:r>
              <a:rPr lang="en-US" sz="3600" dirty="0"/>
              <a:t> is another service that can be used to build natural language processing solutions</a:t>
            </a:r>
          </a:p>
          <a:p>
            <a:r>
              <a:rPr lang="en-US" sz="3600" dirty="0"/>
              <a:t>Azure AI Language features in the </a:t>
            </a:r>
            <a:r>
              <a:rPr lang="en-US" sz="3600" b="1" dirty="0"/>
              <a:t>Azure Language Studio</a:t>
            </a:r>
            <a:r>
              <a:rPr lang="en-US" sz="3600" dirty="0"/>
              <a:t> and Azure AI Speech features in the </a:t>
            </a:r>
            <a:r>
              <a:rPr lang="en-US" sz="3600" b="1" dirty="0"/>
              <a:t>Azure Speech Studio</a:t>
            </a:r>
            <a:r>
              <a:rPr lang="en-US" sz="3600" dirty="0"/>
              <a:t>. </a:t>
            </a:r>
          </a:p>
          <a:p>
            <a:r>
              <a:rPr lang="en-US" sz="2200" dirty="0"/>
              <a:t>https://azure.microsoft.com/en-us/pricing/purchase-options/azure-account?WT.mc_id=azure-azuredevtipsvideo-azureappsdev</a:t>
            </a:r>
          </a:p>
        </p:txBody>
      </p:sp>
    </p:spTree>
    <p:extLst>
      <p:ext uri="{BB962C8B-B14F-4D97-AF65-F5344CB8AC3E}">
        <p14:creationId xmlns:p14="http://schemas.microsoft.com/office/powerpoint/2010/main" val="98195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924800" cy="1554162"/>
          </a:xfrm>
        </p:spPr>
        <p:txBody>
          <a:bodyPr/>
          <a:lstStyle/>
          <a:p>
            <a:r>
              <a:rPr lang="en-US" sz="4400" b="1" dirty="0"/>
              <a:t>Understand document intelligence and knowledge mining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743199"/>
            <a:ext cx="7924800" cy="3886201"/>
          </a:xfrm>
        </p:spPr>
        <p:txBody>
          <a:bodyPr>
            <a:normAutofit/>
          </a:bodyPr>
          <a:lstStyle/>
          <a:p>
            <a:r>
              <a:rPr lang="en-US" sz="3200" b="1" dirty="0"/>
              <a:t>Document Intelligence</a:t>
            </a:r>
            <a:r>
              <a:rPr lang="en-US" sz="3200" dirty="0"/>
              <a:t> is the area of AI that deals with managing, processing, and using high volumes of a variety of data found in forms and documents.</a:t>
            </a:r>
          </a:p>
          <a:p>
            <a:r>
              <a:rPr lang="en-US" sz="3200" dirty="0"/>
              <a:t>enables you to create software that can automate processing for contracts, health documents, financial forms and more</a:t>
            </a:r>
          </a:p>
        </p:txBody>
      </p:sp>
    </p:spTree>
    <p:extLst>
      <p:ext uri="{BB962C8B-B14F-4D97-AF65-F5344CB8AC3E}">
        <p14:creationId xmlns:p14="http://schemas.microsoft.com/office/powerpoint/2010/main" val="2489854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7924800" cy="1143000"/>
          </a:xfrm>
        </p:spPr>
        <p:txBody>
          <a:bodyPr/>
          <a:lstStyle/>
          <a:p>
            <a:r>
              <a:rPr lang="en-US" sz="4400" b="1" dirty="0"/>
              <a:t>Document intelligence in Microsoft Azure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752600"/>
            <a:ext cx="7924800" cy="3962400"/>
          </a:xfrm>
        </p:spPr>
        <p:txBody>
          <a:bodyPr>
            <a:noAutofit/>
          </a:bodyPr>
          <a:lstStyle/>
          <a:p>
            <a:r>
              <a:rPr lang="en-US" sz="3600" dirty="0"/>
              <a:t>Microsoft's </a:t>
            </a:r>
            <a:r>
              <a:rPr lang="en-US" sz="3600" b="1" dirty="0"/>
              <a:t>Azure AI Document Intelligence</a:t>
            </a:r>
            <a:r>
              <a:rPr lang="en-US" sz="3600" dirty="0"/>
              <a:t> to build solutions that manage and accelerate data collection from scanned documents</a:t>
            </a:r>
          </a:p>
        </p:txBody>
      </p:sp>
    </p:spTree>
    <p:extLst>
      <p:ext uri="{BB962C8B-B14F-4D97-AF65-F5344CB8AC3E}">
        <p14:creationId xmlns:p14="http://schemas.microsoft.com/office/powerpoint/2010/main" val="4167929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Document intelligence in Microsoft Azure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Features of Azure AI Document Intelligence help automate document processing in applications and workflows, enhance data-driven strategies, and enrich document search capabilities</a:t>
            </a:r>
          </a:p>
        </p:txBody>
      </p:sp>
    </p:spTree>
    <p:extLst>
      <p:ext uri="{BB962C8B-B14F-4D97-AF65-F5344CB8AC3E}">
        <p14:creationId xmlns:p14="http://schemas.microsoft.com/office/powerpoint/2010/main" val="21970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4800"/>
            <a:ext cx="8458199" cy="6096000"/>
          </a:xfrm>
        </p:spPr>
      </p:pic>
    </p:spTree>
    <p:extLst>
      <p:ext uri="{BB962C8B-B14F-4D97-AF65-F5344CB8AC3E}">
        <p14:creationId xmlns:p14="http://schemas.microsoft.com/office/powerpoint/2010/main" val="111917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Knowledge Mining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Knowledge mining</a:t>
            </a:r>
            <a:r>
              <a:rPr lang="en-US" sz="4000" dirty="0"/>
              <a:t> is the term used to describe solutions that involve extracting information from large volumes of often unstructured data to create a searchable knowledge store.</a:t>
            </a:r>
          </a:p>
        </p:txBody>
      </p:sp>
    </p:spTree>
    <p:extLst>
      <p:ext uri="{BB962C8B-B14F-4D97-AF65-F5344CB8AC3E}">
        <p14:creationId xmlns:p14="http://schemas.microsoft.com/office/powerpoint/2010/main" val="545142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7924800" cy="1143000"/>
          </a:xfrm>
        </p:spPr>
        <p:txBody>
          <a:bodyPr/>
          <a:lstStyle/>
          <a:p>
            <a:r>
              <a:rPr lang="en-US" sz="4400" b="1" dirty="0"/>
              <a:t>Knowledge mining in Microsoft Azure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057400"/>
            <a:ext cx="7924800" cy="3657600"/>
          </a:xfrm>
        </p:spPr>
        <p:txBody>
          <a:bodyPr>
            <a:normAutofit/>
          </a:bodyPr>
          <a:lstStyle/>
          <a:p>
            <a:r>
              <a:rPr lang="en-US" sz="4400" dirty="0"/>
              <a:t>One Microsoft knowledge mining solution is </a:t>
            </a:r>
            <a:r>
              <a:rPr lang="en-US" sz="4400" b="1" dirty="0"/>
              <a:t>Azure AI Search, </a:t>
            </a:r>
            <a:r>
              <a:rPr lang="en-US" sz="4400" dirty="0"/>
              <a:t>an enterprise, search solution that has tools for building indexes.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324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7924800" cy="1143000"/>
          </a:xfrm>
        </p:spPr>
        <p:txBody>
          <a:bodyPr/>
          <a:lstStyle/>
          <a:p>
            <a:r>
              <a:rPr lang="en-US" sz="4400" b="1" dirty="0"/>
              <a:t>Knowledge mining in Microsoft Azure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057400"/>
            <a:ext cx="7924800" cy="3657600"/>
          </a:xfrm>
        </p:spPr>
        <p:txBody>
          <a:bodyPr>
            <a:noAutofit/>
          </a:bodyPr>
          <a:lstStyle/>
          <a:p>
            <a:r>
              <a:rPr lang="en-US" sz="4000" dirty="0"/>
              <a:t>Azure AI Search can utilize the built-in AI capabilities of Azure AI services such as </a:t>
            </a:r>
            <a:r>
              <a:rPr lang="en-US" sz="4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image processing, document intelligence, and natural language processing to extract data. 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085347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Azure </a:t>
            </a:r>
            <a:r>
              <a:rPr lang="en-US" sz="4400" b="1" dirty="0" err="1"/>
              <a:t>ai</a:t>
            </a:r>
            <a:r>
              <a:rPr lang="en-US" sz="4400" b="1" dirty="0"/>
              <a:t> search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47800"/>
            <a:ext cx="7696200" cy="4495800"/>
          </a:xfrm>
        </p:spPr>
      </p:pic>
    </p:spTree>
    <p:extLst>
      <p:ext uri="{BB962C8B-B14F-4D97-AF65-F5344CB8AC3E}">
        <p14:creationId xmlns:p14="http://schemas.microsoft.com/office/powerpoint/2010/main" val="3013821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400" b="1" dirty="0"/>
              <a:t>Understand generative AI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Generative AI describes a category of capabilities within AI that create original content</a:t>
            </a:r>
            <a:r>
              <a:rPr lang="en-US" sz="2000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062583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400" b="1" dirty="0"/>
              <a:t>Generative AI in Microsoft Azure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Azure </a:t>
            </a:r>
            <a:r>
              <a:rPr lang="en-US" sz="3600" b="1" dirty="0" err="1"/>
              <a:t>OpenAI</a:t>
            </a:r>
            <a:r>
              <a:rPr lang="en-US" sz="3600" b="1" dirty="0"/>
              <a:t> Service</a:t>
            </a:r>
            <a:r>
              <a:rPr lang="en-US" sz="3600" dirty="0"/>
              <a:t> is Microsoft's cloud solution for deploying, customizing, and hosting generative AI models.</a:t>
            </a:r>
          </a:p>
        </p:txBody>
      </p:sp>
    </p:spTree>
    <p:extLst>
      <p:ext uri="{BB962C8B-B14F-4D97-AF65-F5344CB8AC3E}">
        <p14:creationId xmlns:p14="http://schemas.microsoft.com/office/powerpoint/2010/main" val="2733727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924800" cy="1143000"/>
          </a:xfrm>
        </p:spPr>
        <p:txBody>
          <a:bodyPr/>
          <a:lstStyle/>
          <a:p>
            <a:r>
              <a:rPr lang="it-IT" sz="4800" b="1" dirty="0"/>
              <a:t>Generative AI in Microsoft Azure</a:t>
            </a:r>
            <a:endParaRPr lang="en-US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752600"/>
            <a:ext cx="7239000" cy="4572000"/>
          </a:xfrm>
        </p:spPr>
      </p:pic>
    </p:spTree>
    <p:extLst>
      <p:ext uri="{BB962C8B-B14F-4D97-AF65-F5344CB8AC3E}">
        <p14:creationId xmlns:p14="http://schemas.microsoft.com/office/powerpoint/2010/main" val="1171321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Challenges and risks with AI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Artificial Intelligence is a powerful tool that can be used to greatly benefit the world. However, like any tool, it must be used responsibly.</a:t>
            </a:r>
          </a:p>
        </p:txBody>
      </p:sp>
    </p:spTree>
    <p:extLst>
      <p:ext uri="{BB962C8B-B14F-4D97-AF65-F5344CB8AC3E}">
        <p14:creationId xmlns:p14="http://schemas.microsoft.com/office/powerpoint/2010/main" val="1388614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/>
            </a:r>
            <a:br>
              <a:rPr lang="en-US" sz="4000" b="1" dirty="0"/>
            </a:br>
            <a:r>
              <a:rPr lang="en-US" sz="4000" b="1" dirty="0"/>
              <a:t>Challenges and risks with AI</a:t>
            </a:r>
            <a:endParaRPr lang="en-US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72" t="13636" r="16115" b="20707"/>
          <a:stretch/>
        </p:blipFill>
        <p:spPr>
          <a:xfrm>
            <a:off x="304800" y="1447800"/>
            <a:ext cx="8534399" cy="5410200"/>
          </a:xfrm>
        </p:spPr>
      </p:pic>
    </p:spTree>
    <p:extLst>
      <p:ext uri="{BB962C8B-B14F-4D97-AF65-F5344CB8AC3E}">
        <p14:creationId xmlns:p14="http://schemas.microsoft.com/office/powerpoint/2010/main" val="1617396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Understand Responsible AI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At Microsoft, AI software development is guided by a set of six principles, designed to ensure that AI applications provide amazing solutions to difficult problems without any unintended negative consequences.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3995278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Understand Responsible 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sz="3800" b="1" dirty="0"/>
              <a:t>Fairness</a:t>
            </a:r>
            <a:endParaRPr lang="en-US" sz="2100" b="1" dirty="0"/>
          </a:p>
          <a:p>
            <a:r>
              <a:rPr lang="en-US" sz="3800" b="1" dirty="0"/>
              <a:t>Reliability and safety</a:t>
            </a:r>
          </a:p>
          <a:p>
            <a:r>
              <a:rPr lang="en-US" sz="3800" b="1" dirty="0"/>
              <a:t>Privacy and security</a:t>
            </a:r>
          </a:p>
          <a:p>
            <a:r>
              <a:rPr lang="en-US" sz="3800" b="1" dirty="0"/>
              <a:t>Inclusiveness</a:t>
            </a:r>
          </a:p>
          <a:p>
            <a:r>
              <a:rPr lang="en-US" sz="3800" b="1" dirty="0"/>
              <a:t>Transparency</a:t>
            </a:r>
          </a:p>
          <a:p>
            <a:r>
              <a:rPr lang="en-US" sz="3800" b="1" dirty="0"/>
              <a:t>Accountability</a:t>
            </a:r>
          </a:p>
          <a:p>
            <a:pPr marL="0" indent="0">
              <a:buNone/>
            </a:pPr>
            <a:r>
              <a:rPr lang="en-US" sz="3200" b="1" dirty="0">
                <a:hlinkClick r:id="rId2"/>
              </a:rPr>
              <a:t>https://learn.microsoft.com/en-us/training/modules/get-started-ai-fundamentals/8a-understand-responsible-ai</a:t>
            </a:r>
            <a:endParaRPr lang="en-US" sz="3200" b="1" dirty="0"/>
          </a:p>
          <a:p>
            <a:endParaRPr lang="en-US" sz="3200" b="1" dirty="0"/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198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7924800" cy="1143000"/>
          </a:xfrm>
        </p:spPr>
        <p:txBody>
          <a:bodyPr/>
          <a:lstStyle/>
          <a:p>
            <a:pPr algn="ctr"/>
            <a:r>
              <a:rPr lang="en-US" sz="6000" b="1" dirty="0"/>
              <a:t>Module #2 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81891" y="2320637"/>
            <a:ext cx="7924800" cy="4114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8000" b="1" dirty="0"/>
              <a:t>Fundamentals of machine learning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621049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915400" cy="1143000"/>
          </a:xfrm>
        </p:spPr>
        <p:txBody>
          <a:bodyPr/>
          <a:lstStyle/>
          <a:p>
            <a:r>
              <a:rPr lang="en-US" sz="3600" b="1" dirty="0"/>
              <a:t/>
            </a:r>
            <a:br>
              <a:rPr lang="en-US" sz="3600" b="1" dirty="0"/>
            </a:br>
            <a:r>
              <a:rPr lang="en-US" sz="3600" b="1" dirty="0"/>
              <a:t>Fundamentals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200" dirty="0"/>
              <a:t>Machine learning is the basis for most modern artificial intelligence solutions. A familiarity with the core concepts on which machine learning is based is an important foundation for understanding AI.</a:t>
            </a:r>
          </a:p>
        </p:txBody>
      </p:sp>
    </p:spTree>
    <p:extLst>
      <p:ext uri="{BB962C8B-B14F-4D97-AF65-F5344CB8AC3E}">
        <p14:creationId xmlns:p14="http://schemas.microsoft.com/office/powerpoint/2010/main" val="1632015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Introduction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Machine learning is in many ways the intersection of two disciplines - data science and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4273664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What is machine learning?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Machine learning has its origins in statistics and mathematical modeling of data.</a:t>
            </a:r>
          </a:p>
          <a:p>
            <a:r>
              <a:rPr lang="en-US" sz="3600" dirty="0"/>
              <a:t> The fundamental idea of machine learning is to use data from past observations to predict unknown outcomes or values. </a:t>
            </a:r>
          </a:p>
        </p:txBody>
      </p:sp>
    </p:spTree>
    <p:extLst>
      <p:ext uri="{BB962C8B-B14F-4D97-AF65-F5344CB8AC3E}">
        <p14:creationId xmlns:p14="http://schemas.microsoft.com/office/powerpoint/2010/main" val="3757822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382000" cy="1143000"/>
          </a:xfrm>
        </p:spPr>
        <p:txBody>
          <a:bodyPr/>
          <a:lstStyle/>
          <a:p>
            <a:r>
              <a:rPr lang="en-US" sz="4000" b="1" dirty="0"/>
              <a:t>Machine learning as a </a:t>
            </a:r>
            <a:r>
              <a:rPr lang="en-US" sz="4000" b="1" i="1" dirty="0"/>
              <a:t>function</a:t>
            </a:r>
            <a:endParaRPr lang="en-US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676400"/>
            <a:ext cx="8458200" cy="4495800"/>
          </a:xfrm>
        </p:spPr>
      </p:pic>
    </p:spTree>
    <p:extLst>
      <p:ext uri="{BB962C8B-B14F-4D97-AF65-F5344CB8AC3E}">
        <p14:creationId xmlns:p14="http://schemas.microsoft.com/office/powerpoint/2010/main" val="2746495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Types of machine learning</a:t>
            </a:r>
            <a:endParaRPr lang="en-US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218" y="1828800"/>
            <a:ext cx="8763000" cy="4876800"/>
          </a:xfrm>
        </p:spPr>
      </p:pic>
    </p:spTree>
    <p:extLst>
      <p:ext uri="{BB962C8B-B14F-4D97-AF65-F5344CB8AC3E}">
        <p14:creationId xmlns:p14="http://schemas.microsoft.com/office/powerpoint/2010/main" val="3768045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5800"/>
            <a:ext cx="7924800" cy="1143000"/>
          </a:xfrm>
        </p:spPr>
        <p:txBody>
          <a:bodyPr/>
          <a:lstStyle/>
          <a:p>
            <a:r>
              <a:rPr lang="en-US" sz="4800" b="1" dirty="0"/>
              <a:t>Supervised machine learning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981200"/>
            <a:ext cx="7924800" cy="4114800"/>
          </a:xfrm>
        </p:spPr>
        <p:txBody>
          <a:bodyPr>
            <a:normAutofit/>
          </a:bodyPr>
          <a:lstStyle/>
          <a:p>
            <a:r>
              <a:rPr lang="en-US" sz="4000" dirty="0"/>
              <a:t>machine learning algorithms in which the training data includes both </a:t>
            </a:r>
            <a:r>
              <a:rPr lang="en-US" sz="4000" i="1" dirty="0"/>
              <a:t>feature</a:t>
            </a:r>
            <a:r>
              <a:rPr lang="en-US" sz="4000" dirty="0"/>
              <a:t> values and known </a:t>
            </a:r>
            <a:r>
              <a:rPr lang="en-US" sz="4000" i="1" dirty="0"/>
              <a:t>label</a:t>
            </a:r>
            <a:r>
              <a:rPr lang="en-US" sz="4000" dirty="0"/>
              <a:t> values. </a:t>
            </a:r>
          </a:p>
        </p:txBody>
      </p:sp>
    </p:spTree>
    <p:extLst>
      <p:ext uri="{BB962C8B-B14F-4D97-AF65-F5344CB8AC3E}">
        <p14:creationId xmlns:p14="http://schemas.microsoft.com/office/powerpoint/2010/main" val="26199492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924800" cy="1600200"/>
          </a:xfrm>
        </p:spPr>
        <p:txBody>
          <a:bodyPr/>
          <a:lstStyle/>
          <a:p>
            <a:r>
              <a:rPr lang="en-US" sz="4400" b="1" dirty="0"/>
              <a:t>SUPERVISED MACHINE LEARNING ALGORITHMS: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7924800" cy="4114800"/>
          </a:xfrm>
        </p:spPr>
        <p:txBody>
          <a:bodyPr/>
          <a:lstStyle/>
          <a:p>
            <a:r>
              <a:rPr lang="en-US" sz="3600" dirty="0"/>
              <a:t>Regression ( Linear, Logistic )</a:t>
            </a:r>
          </a:p>
          <a:p>
            <a:r>
              <a:rPr lang="en-US" sz="3600" dirty="0"/>
              <a:t>Decision Tree </a:t>
            </a:r>
          </a:p>
          <a:p>
            <a:r>
              <a:rPr lang="en-US" sz="3600" dirty="0"/>
              <a:t>KNN ( K- nearest neighbor )</a:t>
            </a:r>
          </a:p>
          <a:p>
            <a:r>
              <a:rPr lang="en-US" sz="3600" dirty="0"/>
              <a:t>SVM ( support vector machine ) </a:t>
            </a:r>
          </a:p>
          <a:p>
            <a:r>
              <a:rPr lang="en-US" sz="3600" dirty="0"/>
              <a:t>Random forest </a:t>
            </a:r>
          </a:p>
          <a:p>
            <a:pPr marL="0" indent="0">
              <a:buNone/>
            </a:pPr>
            <a:endParaRPr lang="en-US" sz="3600" dirty="0"/>
          </a:p>
          <a:p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196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Supervised machine learning</a:t>
            </a:r>
            <a:br>
              <a:rPr lang="en-US" sz="4000" b="1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Regression</a:t>
            </a:r>
          </a:p>
          <a:p>
            <a:r>
              <a:rPr lang="en-US" sz="4000" i="1" dirty="0"/>
              <a:t>Regression</a:t>
            </a:r>
            <a:r>
              <a:rPr lang="en-US" sz="4000" dirty="0"/>
              <a:t> is a form of supervised machine learning in which the label predicted by the model is a numeric value. </a:t>
            </a:r>
          </a:p>
        </p:txBody>
      </p:sp>
    </p:spTree>
    <p:extLst>
      <p:ext uri="{BB962C8B-B14F-4D97-AF65-F5344CB8AC3E}">
        <p14:creationId xmlns:p14="http://schemas.microsoft.com/office/powerpoint/2010/main" val="1601592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Supervised machine learning</a:t>
            </a:r>
            <a:br>
              <a:rPr lang="en-US" sz="3200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4000" b="1" dirty="0"/>
              <a:t>Classification</a:t>
            </a:r>
          </a:p>
          <a:p>
            <a:r>
              <a:rPr lang="en-US" sz="3200" i="1" dirty="0"/>
              <a:t>Classification</a:t>
            </a:r>
            <a:r>
              <a:rPr lang="en-US" sz="3200" dirty="0"/>
              <a:t> is a form of supervised machine learning in which the label represents a categorization, or </a:t>
            </a:r>
            <a:r>
              <a:rPr lang="en-US" sz="3200" i="1" dirty="0"/>
              <a:t>class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45132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Unsupervised machine learning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4000" i="1" dirty="0"/>
              <a:t>Unsupervised</a:t>
            </a:r>
            <a:r>
              <a:rPr lang="en-US" sz="4000" dirty="0"/>
              <a:t> machine learning involves training models using data that consists only of </a:t>
            </a:r>
            <a:r>
              <a:rPr lang="en-US" sz="4000" i="1" dirty="0"/>
              <a:t>feature</a:t>
            </a:r>
            <a:r>
              <a:rPr lang="en-US" sz="4000" dirty="0"/>
              <a:t> values without any known labels. </a:t>
            </a:r>
          </a:p>
        </p:txBody>
      </p:sp>
    </p:spTree>
    <p:extLst>
      <p:ext uri="{BB962C8B-B14F-4D97-AF65-F5344CB8AC3E}">
        <p14:creationId xmlns:p14="http://schemas.microsoft.com/office/powerpoint/2010/main" val="1580469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Unsupervised 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3600" b="1" dirty="0"/>
              <a:t>Clustering</a:t>
            </a:r>
          </a:p>
          <a:p>
            <a:r>
              <a:rPr lang="en-US" sz="3600" dirty="0"/>
              <a:t>A clustering algorithm identifies similarities between observations based on their features, and groups them into discrete clusters</a:t>
            </a:r>
          </a:p>
        </p:txBody>
      </p:sp>
    </p:spTree>
    <p:extLst>
      <p:ext uri="{BB962C8B-B14F-4D97-AF65-F5344CB8AC3E}">
        <p14:creationId xmlns:p14="http://schemas.microsoft.com/office/powerpoint/2010/main" val="14842545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Regression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4000" dirty="0"/>
              <a:t>widely used when the dependent and independent variables are linked in a linear or non-linear fashion, and the target variable has a set of continuous values</a:t>
            </a:r>
            <a:r>
              <a:rPr lang="en-US" sz="3600" dirty="0"/>
              <a:t>.</a:t>
            </a:r>
          </a:p>
          <a:p>
            <a:pPr algn="just"/>
            <a:r>
              <a:rPr lang="en-US" sz="3600" dirty="0"/>
              <a:t>e.g. sales and advertising expenditures for a corporation, </a:t>
            </a:r>
          </a:p>
        </p:txBody>
      </p:sp>
    </p:spTree>
    <p:extLst>
      <p:ext uri="{BB962C8B-B14F-4D97-AF65-F5344CB8AC3E}">
        <p14:creationId xmlns:p14="http://schemas.microsoft.com/office/powerpoint/2010/main" val="3076350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924800" cy="1143000"/>
          </a:xfrm>
        </p:spPr>
        <p:txBody>
          <a:bodyPr/>
          <a:lstStyle/>
          <a:p>
            <a:r>
              <a:rPr lang="en-US" b="1" dirty="0"/>
              <a:t>Regression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066800"/>
            <a:ext cx="7924799" cy="5105400"/>
          </a:xfrm>
        </p:spPr>
      </p:pic>
    </p:spTree>
    <p:extLst>
      <p:ext uri="{BB962C8B-B14F-4D97-AF65-F5344CB8AC3E}">
        <p14:creationId xmlns:p14="http://schemas.microsoft.com/office/powerpoint/2010/main" val="2960448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Linear REGRESSION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 linear connection between a dependent variable (Y) and an independent variable (X)</a:t>
            </a:r>
          </a:p>
          <a:p>
            <a:r>
              <a:rPr lang="en-US" sz="4000" b="1" dirty="0"/>
              <a:t>Linear REGRESSION </a:t>
            </a:r>
            <a:endParaRPr lang="en-US" sz="4000" dirty="0"/>
          </a:p>
          <a:p>
            <a:r>
              <a:rPr lang="en-US" sz="4000" dirty="0"/>
              <a:t>Y =</a:t>
            </a:r>
            <a:r>
              <a:rPr lang="en-US" sz="4000" dirty="0" err="1"/>
              <a:t>mX+b</a:t>
            </a:r>
            <a:endParaRPr lang="en-US" sz="4000" dirty="0"/>
          </a:p>
          <a:p>
            <a:endParaRPr lang="en-US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1675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Linear REGRESSION 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Y represent  dependent variable </a:t>
            </a:r>
          </a:p>
          <a:p>
            <a:r>
              <a:rPr lang="en-US" sz="3200" dirty="0"/>
              <a:t>X represent  independent variable </a:t>
            </a:r>
          </a:p>
          <a:p>
            <a:r>
              <a:rPr lang="en-US" sz="3200" dirty="0"/>
              <a:t> m  is the slop of line ( how much y changes as changes X)</a:t>
            </a:r>
          </a:p>
          <a:p>
            <a:r>
              <a:rPr lang="en-US" sz="3200" dirty="0"/>
              <a:t>The value of intercept ( the value of Y when x=0) </a:t>
            </a:r>
          </a:p>
        </p:txBody>
      </p:sp>
    </p:spTree>
    <p:extLst>
      <p:ext uri="{BB962C8B-B14F-4D97-AF65-F5344CB8AC3E}">
        <p14:creationId xmlns:p14="http://schemas.microsoft.com/office/powerpoint/2010/main" val="2231969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Linear Regression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 of Linear regression with graph</a:t>
            </a:r>
          </a:p>
          <a:p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362200"/>
            <a:ext cx="81534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9058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LOGISTIC Regression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When the dependent variable is discrete, the logistic regression technique is applicable. </a:t>
            </a:r>
          </a:p>
          <a:p>
            <a:r>
              <a:rPr lang="en-US" sz="3600" dirty="0"/>
              <a:t>used to compute the probability of mutually exclusive occurrences such as pass/fail, true/false, 0/1, and so forth.</a:t>
            </a:r>
          </a:p>
          <a:p>
            <a:r>
              <a:rPr lang="en-US" sz="3600" dirty="0"/>
              <a:t>Disease detection, pass/fail decision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17871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LOGISTIC Regression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3200" dirty="0"/>
              <a:t>Use sigmoid function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S(X) = Y= ( ranges between 0 and 1 )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60" t="39985" b="46450"/>
          <a:stretch/>
        </p:blipFill>
        <p:spPr>
          <a:xfrm>
            <a:off x="1198418" y="2438400"/>
            <a:ext cx="5659582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1360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LOGISTIC Regression</a:t>
            </a:r>
            <a:endParaRPr lang="en-US" sz="4400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76400"/>
            <a:ext cx="80772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526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LINEAER VS LOGISTIC REGRESSION: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Linear Regression is used to handle regression problems whereas Logistic regression is used to handle the classification problems.</a:t>
            </a:r>
          </a:p>
          <a:p>
            <a:r>
              <a:rPr lang="en-US" sz="3600" dirty="0"/>
              <a:t>Linear regression provides a continuous output but Logistic regression provides discreet output.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3769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838200"/>
            <a:ext cx="7924800" cy="1143000"/>
          </a:xfrm>
        </p:spPr>
        <p:txBody>
          <a:bodyPr/>
          <a:lstStyle/>
          <a:p>
            <a:r>
              <a:rPr lang="en-US" sz="4400" b="1" dirty="0"/>
              <a:t>LINEAER VS LOGISTIC REGRESSION: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355999"/>
            <a:ext cx="8305800" cy="3746202"/>
          </a:xfrm>
        </p:spPr>
      </p:pic>
    </p:spTree>
    <p:extLst>
      <p:ext uri="{BB962C8B-B14F-4D97-AF65-F5344CB8AC3E}">
        <p14:creationId xmlns:p14="http://schemas.microsoft.com/office/powerpoint/2010/main" val="1935663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066800"/>
            <a:ext cx="7924800" cy="1143000"/>
          </a:xfrm>
        </p:spPr>
        <p:txBody>
          <a:bodyPr/>
          <a:lstStyle/>
          <a:p>
            <a:r>
              <a:rPr lang="en-US" sz="4400" b="1" dirty="0"/>
              <a:t>Regression evaluation metrics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438400"/>
            <a:ext cx="7924800" cy="4114800"/>
          </a:xfrm>
        </p:spPr>
        <p:txBody>
          <a:bodyPr>
            <a:normAutofit/>
          </a:bodyPr>
          <a:lstStyle/>
          <a:p>
            <a:pPr algn="just"/>
            <a:r>
              <a:rPr lang="en-US" sz="4400" dirty="0"/>
              <a:t>common metrics that are used to evaluate a regression model.</a:t>
            </a:r>
          </a:p>
          <a:p>
            <a:pPr algn="just"/>
            <a:r>
              <a:rPr lang="en-US" sz="4400" dirty="0"/>
              <a:t>Used to measure the accuracy of regression models</a:t>
            </a:r>
          </a:p>
        </p:txBody>
      </p:sp>
    </p:spTree>
    <p:extLst>
      <p:ext uri="{BB962C8B-B14F-4D97-AF65-F5344CB8AC3E}">
        <p14:creationId xmlns:p14="http://schemas.microsoft.com/office/powerpoint/2010/main" val="15352239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Regression evaluation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There are some evaluation metrics that can help you determine whether the model’s predictions are accurate to a certain level of performance.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620184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Regression evaluation metrics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Mean Absolute Error (MAE)</a:t>
            </a:r>
          </a:p>
          <a:p>
            <a:r>
              <a:rPr lang="en-US" sz="4000" dirty="0"/>
              <a:t>Mean Squared Error (MSE)</a:t>
            </a:r>
          </a:p>
          <a:p>
            <a:r>
              <a:rPr lang="en-US" sz="4000" dirty="0"/>
              <a:t>Root Mean Squared Error (RMSE)</a:t>
            </a:r>
          </a:p>
          <a:p>
            <a:r>
              <a:rPr lang="en-US" sz="4000" dirty="0"/>
              <a:t>Coefficient of determination (R</a:t>
            </a:r>
            <a:r>
              <a:rPr lang="en-US" sz="4000" baseline="30000" dirty="0"/>
              <a:t>2</a:t>
            </a:r>
            <a:r>
              <a:rPr lang="en-US" sz="4000" dirty="0"/>
              <a:t>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220950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Mean Absolute Error (MAE)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Measure the average magnitude of errors in a set of predictions, without considering their direction.</a:t>
            </a:r>
          </a:p>
          <a:p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352800"/>
            <a:ext cx="7391400" cy="281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5428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Mean Squared Error (MSE)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3200" dirty="0"/>
              <a:t>MSE measures the average of the squares of the errors – that is the averaged squared differences between the estimated values and the actual values.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657600"/>
            <a:ext cx="7162800" cy="308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999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Root Mean Squared Error (RMSE)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RMSE is the square root of the mean of the squared errors. It’s the best way to quantify the size of error made by  the model.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276600"/>
            <a:ext cx="7315200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8894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7147"/>
            <a:ext cx="7924800" cy="1143000"/>
          </a:xfrm>
        </p:spPr>
        <p:txBody>
          <a:bodyPr/>
          <a:lstStyle/>
          <a:p>
            <a:r>
              <a:rPr lang="en-US" sz="4000" b="1" dirty="0"/>
              <a:t>Coefficient of determination (R</a:t>
            </a:r>
            <a:r>
              <a:rPr lang="en-US" sz="4000" b="1" baseline="30000" dirty="0"/>
              <a:t>2</a:t>
            </a:r>
            <a:r>
              <a:rPr lang="en-US" sz="4000" b="1" dirty="0"/>
              <a:t>)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37309" y="2001982"/>
            <a:ext cx="7924800" cy="4114800"/>
          </a:xfrm>
        </p:spPr>
        <p:txBody>
          <a:bodyPr>
            <a:normAutofit/>
          </a:bodyPr>
          <a:lstStyle/>
          <a:p>
            <a:r>
              <a:rPr lang="en-US" sz="3200" b="1" dirty="0"/>
              <a:t>R</a:t>
            </a:r>
            <a:r>
              <a:rPr lang="en-US" sz="3200" dirty="0"/>
              <a:t>-</a:t>
            </a:r>
            <a:r>
              <a:rPr lang="en-US" sz="3200" b="1" dirty="0"/>
              <a:t>squared</a:t>
            </a:r>
            <a:r>
              <a:rPr lang="en-US" sz="3200" dirty="0"/>
              <a:t> is a statistical measure that represents the proportion of the variance for a dependent variable that's explained by an independent variable.</a:t>
            </a:r>
          </a:p>
          <a:p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4191000"/>
            <a:ext cx="9144000" cy="181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225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8229600" cy="41148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4400" dirty="0"/>
              <a:t>Video for regression evolution metrics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2"/>
              </a:rPr>
              <a:t>https://youtu.be/SH4soR1O7fY?t=142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7300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Iterative training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 most real-world scenarios, a data scientist will use an iterative process to repeatedly train and evaluate a model</a:t>
            </a:r>
          </a:p>
        </p:txBody>
      </p:sp>
    </p:spTree>
    <p:extLst>
      <p:ext uri="{BB962C8B-B14F-4D97-AF65-F5344CB8AC3E}">
        <p14:creationId xmlns:p14="http://schemas.microsoft.com/office/powerpoint/2010/main" val="22639299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Binary classification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Binary classification</a:t>
            </a:r>
            <a:r>
              <a:rPr lang="en-US" sz="3600" dirty="0"/>
              <a:t> algorithms are used to train a model that predicts one of two possible labels for a single class.</a:t>
            </a:r>
          </a:p>
          <a:p>
            <a:r>
              <a:rPr lang="en-US" sz="3600" dirty="0"/>
              <a:t> predicting </a:t>
            </a:r>
            <a:r>
              <a:rPr lang="en-US" sz="3600" b="1" i="1" dirty="0"/>
              <a:t>true</a:t>
            </a:r>
            <a:r>
              <a:rPr lang="en-US" sz="3600" dirty="0"/>
              <a:t> or </a:t>
            </a:r>
            <a:r>
              <a:rPr lang="en-US" sz="3600" b="1" i="1" dirty="0"/>
              <a:t>false</a:t>
            </a:r>
          </a:p>
          <a:p>
            <a:r>
              <a:rPr lang="en-US" sz="3600" b="1" i="1" dirty="0"/>
              <a:t>Example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90607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Binary classification</a:t>
            </a:r>
            <a:endParaRPr lang="en-US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51" t="15656" r="30501" b="12627"/>
          <a:stretch/>
        </p:blipFill>
        <p:spPr>
          <a:xfrm>
            <a:off x="381000" y="1676400"/>
            <a:ext cx="8305800" cy="4648200"/>
          </a:xfrm>
        </p:spPr>
      </p:pic>
    </p:spTree>
    <p:extLst>
      <p:ext uri="{BB962C8B-B14F-4D97-AF65-F5344CB8AC3E}">
        <p14:creationId xmlns:p14="http://schemas.microsoft.com/office/powerpoint/2010/main" val="11528226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Binary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In  machine learning </a:t>
            </a:r>
            <a:r>
              <a:rPr lang="en-US" sz="3400" i="1" dirty="0"/>
              <a:t>logistic regression</a:t>
            </a:r>
            <a:r>
              <a:rPr lang="en-US" sz="3400" dirty="0"/>
              <a:t> is used for classification, not regression. The important point is the </a:t>
            </a:r>
            <a:r>
              <a:rPr lang="en-US" sz="3400" i="1" dirty="0"/>
              <a:t>logistic</a:t>
            </a:r>
            <a:r>
              <a:rPr lang="en-US" sz="3400" dirty="0"/>
              <a:t> nature of the function it produces, which describes an S-shaped curve between a lower and upper value (0.0 and 1.0 when used for binary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2520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38200"/>
            <a:ext cx="8686800" cy="5638800"/>
          </a:xfrm>
        </p:spPr>
      </p:pic>
    </p:spTree>
    <p:extLst>
      <p:ext uri="{BB962C8B-B14F-4D97-AF65-F5344CB8AC3E}">
        <p14:creationId xmlns:p14="http://schemas.microsoft.com/office/powerpoint/2010/main" val="37314483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S-CURVED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 threshold lies at the mid-point for </a:t>
            </a:r>
            <a:r>
              <a:rPr lang="en-US" sz="3600" b="1" i="1" dirty="0"/>
              <a:t>y</a:t>
            </a:r>
            <a:r>
              <a:rPr lang="en-US" sz="3600" dirty="0"/>
              <a:t> (</a:t>
            </a:r>
            <a:r>
              <a:rPr lang="en-US" sz="3600" i="1" dirty="0"/>
              <a:t>P(y) = 0.5</a:t>
            </a:r>
            <a:r>
              <a:rPr lang="en-US" sz="3600" dirty="0"/>
              <a:t>).</a:t>
            </a:r>
          </a:p>
          <a:p>
            <a:r>
              <a:rPr lang="en-US" sz="3600" dirty="0"/>
              <a:t>For any values at this point or above, the model will predict </a:t>
            </a:r>
            <a:r>
              <a:rPr lang="en-US" sz="3600" i="1" dirty="0"/>
              <a:t>true</a:t>
            </a:r>
            <a:r>
              <a:rPr lang="en-US" sz="3600" dirty="0"/>
              <a:t> (</a:t>
            </a:r>
            <a:r>
              <a:rPr lang="en-US" sz="3600" b="1" dirty="0"/>
              <a:t>1</a:t>
            </a:r>
            <a:r>
              <a:rPr lang="en-US" sz="3600" dirty="0"/>
              <a:t>)</a:t>
            </a:r>
          </a:p>
          <a:p>
            <a:r>
              <a:rPr lang="en-US" sz="3600" dirty="0"/>
              <a:t>while for any values below this point it will predict </a:t>
            </a:r>
            <a:r>
              <a:rPr lang="en-US" sz="3600" i="1" dirty="0"/>
              <a:t>false</a:t>
            </a:r>
            <a:r>
              <a:rPr lang="en-US" sz="3600" dirty="0"/>
              <a:t> (</a:t>
            </a:r>
            <a:r>
              <a:rPr lang="en-US" sz="3600" b="1" dirty="0"/>
              <a:t>0</a:t>
            </a:r>
            <a:r>
              <a:rPr lang="en-US" sz="3600" dirty="0"/>
              <a:t>)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813479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111" y="381000"/>
            <a:ext cx="7924800" cy="1371600"/>
          </a:xfrm>
        </p:spPr>
        <p:txBody>
          <a:bodyPr/>
          <a:lstStyle/>
          <a:p>
            <a:r>
              <a:rPr lang="en-US" sz="4000" b="1" dirty="0"/>
              <a:t>Binary classification evaluation metrics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133600"/>
            <a:ext cx="7924800" cy="411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The first step in calculating evaluation metrics for a binary classification model is usually to create a matrix of the number of correct and incorrect predictions for each possible class label. </a:t>
            </a:r>
          </a:p>
        </p:txBody>
      </p:sp>
    </p:spTree>
    <p:extLst>
      <p:ext uri="{BB962C8B-B14F-4D97-AF65-F5344CB8AC3E}">
        <p14:creationId xmlns:p14="http://schemas.microsoft.com/office/powerpoint/2010/main" val="4328204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confusion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arrangement of the confusion matrix is such that correct (</a:t>
            </a:r>
            <a:r>
              <a:rPr lang="en-US" sz="3600" i="1" dirty="0"/>
              <a:t>true</a:t>
            </a:r>
            <a:r>
              <a:rPr lang="en-US" sz="3600" dirty="0"/>
              <a:t>) predictions are shown in a diagonal line from top-left to bottom-right. </a:t>
            </a:r>
          </a:p>
          <a:p>
            <a:r>
              <a:rPr lang="en-US" sz="3600" dirty="0"/>
              <a:t> color-intensity is used to indicate the number of predictions in each cell</a:t>
            </a:r>
          </a:p>
        </p:txBody>
      </p:sp>
    </p:spTree>
    <p:extLst>
      <p:ext uri="{BB962C8B-B14F-4D97-AF65-F5344CB8AC3E}">
        <p14:creationId xmlns:p14="http://schemas.microsoft.com/office/powerpoint/2010/main" val="4615170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confusion matrix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24000"/>
            <a:ext cx="8305800" cy="5105400"/>
          </a:xfrm>
        </p:spPr>
      </p:pic>
    </p:spTree>
    <p:extLst>
      <p:ext uri="{BB962C8B-B14F-4D97-AF65-F5344CB8AC3E}">
        <p14:creationId xmlns:p14="http://schemas.microsoft.com/office/powerpoint/2010/main" val="27061290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confusion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3200" dirty="0"/>
              <a:t>This visualization is called a </a:t>
            </a:r>
            <a:r>
              <a:rPr lang="en-US" sz="3200" i="1" dirty="0"/>
              <a:t>confusion matrix</a:t>
            </a:r>
            <a:r>
              <a:rPr lang="en-US" sz="3200" dirty="0"/>
              <a:t>, and it shows the prediction totals where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sz="3200" dirty="0"/>
              <a:t>ŷ=0 and y=0: </a:t>
            </a:r>
            <a:r>
              <a:rPr lang="en-US" sz="3200" i="1" dirty="0"/>
              <a:t>True negatives</a:t>
            </a:r>
            <a:r>
              <a:rPr lang="en-US" sz="3200" dirty="0"/>
              <a:t> (TN)</a:t>
            </a:r>
          </a:p>
          <a:p>
            <a:r>
              <a:rPr lang="en-US" sz="3200" dirty="0"/>
              <a:t>ŷ=1 and y=0: </a:t>
            </a:r>
            <a:r>
              <a:rPr lang="en-US" sz="3200" i="1" dirty="0"/>
              <a:t>False positives</a:t>
            </a:r>
            <a:r>
              <a:rPr lang="en-US" sz="3200" dirty="0"/>
              <a:t> (FP)</a:t>
            </a:r>
          </a:p>
          <a:p>
            <a:r>
              <a:rPr lang="en-US" sz="3200" dirty="0"/>
              <a:t>ŷ=0 and y=1: </a:t>
            </a:r>
            <a:r>
              <a:rPr lang="en-US" sz="3200" i="1" dirty="0"/>
              <a:t>False negatives</a:t>
            </a:r>
            <a:r>
              <a:rPr lang="en-US" sz="3200" dirty="0"/>
              <a:t> (FN)</a:t>
            </a:r>
          </a:p>
          <a:p>
            <a:r>
              <a:rPr lang="en-US" sz="3200" dirty="0"/>
              <a:t>ŷ=1 and y=1: </a:t>
            </a:r>
            <a:r>
              <a:rPr lang="en-US" sz="3200" i="1" dirty="0"/>
              <a:t>True positives</a:t>
            </a:r>
            <a:r>
              <a:rPr lang="en-US" sz="3200" dirty="0"/>
              <a:t> (TP)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30557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confusion matrix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79" t="18014" r="17629" b="23400"/>
          <a:stretch/>
        </p:blipFill>
        <p:spPr>
          <a:xfrm>
            <a:off x="533400" y="1524000"/>
            <a:ext cx="8000999" cy="5181600"/>
          </a:xfrm>
        </p:spPr>
      </p:pic>
    </p:spTree>
    <p:extLst>
      <p:ext uri="{BB962C8B-B14F-4D97-AF65-F5344CB8AC3E}">
        <p14:creationId xmlns:p14="http://schemas.microsoft.com/office/powerpoint/2010/main" val="324340490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confusion matrix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3" t="35523" r="61358" b="35184"/>
          <a:stretch/>
        </p:blipFill>
        <p:spPr>
          <a:xfrm>
            <a:off x="685800" y="1371600"/>
            <a:ext cx="7467600" cy="4953000"/>
          </a:xfrm>
        </p:spPr>
      </p:pic>
    </p:spTree>
    <p:extLst>
      <p:ext uri="{BB962C8B-B14F-4D97-AF65-F5344CB8AC3E}">
        <p14:creationId xmlns:p14="http://schemas.microsoft.com/office/powerpoint/2010/main" val="26471353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Binary classification evaluation metrics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Accuracy</a:t>
            </a:r>
          </a:p>
          <a:p>
            <a:r>
              <a:rPr lang="en-US" sz="3600" b="1" dirty="0"/>
              <a:t>Recall</a:t>
            </a:r>
          </a:p>
          <a:p>
            <a:r>
              <a:rPr lang="en-US" sz="3600" b="1" dirty="0"/>
              <a:t>Precision</a:t>
            </a:r>
          </a:p>
          <a:p>
            <a:r>
              <a:rPr lang="en-US" sz="3600" b="1" dirty="0"/>
              <a:t>F1-score</a:t>
            </a:r>
          </a:p>
          <a:p>
            <a:r>
              <a:rPr lang="en-US" sz="3600" b="1" dirty="0"/>
              <a:t>Area Under the Curve (AUC)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7318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Accuracy: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734291" y="1600200"/>
            <a:ext cx="7924800" cy="5029200"/>
          </a:xfrm>
        </p:spPr>
        <p:txBody>
          <a:bodyPr>
            <a:normAutofit/>
          </a:bodyPr>
          <a:lstStyle/>
          <a:p>
            <a:r>
              <a:rPr lang="en-US" sz="4000" dirty="0"/>
              <a:t>The simplest metric you can calculate from the confusion matrix is </a:t>
            </a:r>
            <a:r>
              <a:rPr lang="en-US" sz="4000" i="1" dirty="0"/>
              <a:t>accuracy</a:t>
            </a:r>
            <a:r>
              <a:rPr lang="en-US" sz="4000" dirty="0"/>
              <a:t> - the proportion of predictions that the model got right. </a:t>
            </a:r>
          </a:p>
          <a:p>
            <a:r>
              <a:rPr lang="en-US" sz="4000" b="1" dirty="0"/>
              <a:t>(TN+FN+FP+TP)</a:t>
            </a:r>
            <a:r>
              <a:rPr lang="en-US" sz="4000" b="1" i="1" dirty="0"/>
              <a:t> =n </a:t>
            </a:r>
            <a:endParaRPr lang="en-US" sz="4000" dirty="0"/>
          </a:p>
          <a:p>
            <a:r>
              <a:rPr lang="en-US" sz="4000" b="1" dirty="0"/>
              <a:t>(TN+TP) ÷ 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412378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Accuracy: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5029200"/>
          </a:xfrm>
        </p:spPr>
        <p:txBody>
          <a:bodyPr>
            <a:noAutofit/>
          </a:bodyPr>
          <a:lstStyle/>
          <a:p>
            <a:r>
              <a:rPr lang="en-US" sz="3200" dirty="0"/>
              <a:t>In the case of our diabetes example, the calculation is:</a:t>
            </a:r>
          </a:p>
          <a:p>
            <a:r>
              <a:rPr lang="en-US" sz="3200" dirty="0"/>
              <a:t>(2+3) ÷ (2+1+0+3)</a:t>
            </a:r>
          </a:p>
          <a:p>
            <a:r>
              <a:rPr lang="en-US" sz="3200" dirty="0"/>
              <a:t>= 5 ÷ 6</a:t>
            </a:r>
          </a:p>
          <a:p>
            <a:r>
              <a:rPr lang="en-US" sz="3200" dirty="0"/>
              <a:t>= </a:t>
            </a:r>
            <a:r>
              <a:rPr lang="en-US" sz="3200" b="1" dirty="0"/>
              <a:t>0.83</a:t>
            </a:r>
            <a:endParaRPr lang="en-US" sz="3200" dirty="0"/>
          </a:p>
          <a:p>
            <a:r>
              <a:rPr lang="en-US" sz="2800" dirty="0"/>
              <a:t>So for our validation data, the diabetes classification model produced correct predictions 83% of the time</a:t>
            </a:r>
          </a:p>
        </p:txBody>
      </p:sp>
    </p:spTree>
    <p:extLst>
      <p:ext uri="{BB962C8B-B14F-4D97-AF65-F5344CB8AC3E}">
        <p14:creationId xmlns:p14="http://schemas.microsoft.com/office/powerpoint/2010/main" val="22210722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ERROR RATE 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1- ACCURACY </a:t>
            </a:r>
          </a:p>
          <a:p>
            <a:r>
              <a:rPr lang="en-US" sz="4000" dirty="0"/>
              <a:t>FP+ FN / TOTAL </a:t>
            </a:r>
          </a:p>
          <a:p>
            <a:r>
              <a:rPr lang="en-US" sz="4000" dirty="0"/>
              <a:t>1-0.83</a:t>
            </a:r>
          </a:p>
          <a:p>
            <a:r>
              <a:rPr lang="en-US" sz="4000" dirty="0"/>
              <a:t>0.17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9277394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Recall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i="1" dirty="0"/>
              <a:t>Recall</a:t>
            </a:r>
            <a:r>
              <a:rPr lang="en-US" sz="3200" dirty="0"/>
              <a:t> is a metric that measures the proportion of positive cases that the model identified correctly.</a:t>
            </a:r>
          </a:p>
          <a:p>
            <a:r>
              <a:rPr lang="en-US" sz="3200" dirty="0"/>
              <a:t>The formula for recall is:</a:t>
            </a:r>
          </a:p>
          <a:p>
            <a:r>
              <a:rPr lang="en-US" sz="3600" b="1" i="1" dirty="0"/>
              <a:t>TP ÷ (TP+FN)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876667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Recall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3200" dirty="0"/>
              <a:t>For our diabetes example:</a:t>
            </a:r>
          </a:p>
          <a:p>
            <a:r>
              <a:rPr lang="en-US" sz="3200" dirty="0"/>
              <a:t>3 ÷ (3+1)</a:t>
            </a:r>
          </a:p>
          <a:p>
            <a:r>
              <a:rPr lang="en-US" sz="3200" dirty="0"/>
              <a:t>= 3 ÷ 4</a:t>
            </a:r>
          </a:p>
          <a:p>
            <a:r>
              <a:rPr lang="en-US" sz="3200" dirty="0"/>
              <a:t>= </a:t>
            </a:r>
            <a:r>
              <a:rPr lang="en-US" sz="3200" b="1" dirty="0"/>
              <a:t>0.75</a:t>
            </a:r>
            <a:endParaRPr lang="en-US" sz="3200" dirty="0"/>
          </a:p>
          <a:p>
            <a:r>
              <a:rPr lang="en-US" sz="3200" dirty="0"/>
              <a:t>So our model correctly identified 75% of patients who have diabetes as having diabetes.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6073610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Precision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sz="3000" i="1" dirty="0"/>
              <a:t>Precision</a:t>
            </a:r>
            <a:r>
              <a:rPr lang="en-US" sz="3000" dirty="0"/>
              <a:t> is a similar metric to recall, but measures the proportion of predicted positive cases where the true label is actually positive.</a:t>
            </a:r>
          </a:p>
          <a:p>
            <a:endParaRPr lang="en-US" sz="3000" dirty="0"/>
          </a:p>
          <a:p>
            <a:r>
              <a:rPr lang="en-US" sz="3000" dirty="0"/>
              <a:t> In other words, what proportion of the patients </a:t>
            </a:r>
            <a:r>
              <a:rPr lang="en-US" sz="3000" i="1" dirty="0"/>
              <a:t>predicted</a:t>
            </a:r>
            <a:r>
              <a:rPr lang="en-US" sz="3000" dirty="0"/>
              <a:t> by the model to have diabetes actually </a:t>
            </a:r>
            <a:r>
              <a:rPr lang="en-US" sz="3000" i="1" dirty="0"/>
              <a:t>have</a:t>
            </a:r>
            <a:r>
              <a:rPr lang="en-US" sz="3000" dirty="0"/>
              <a:t> diabetes?</a:t>
            </a:r>
          </a:p>
          <a:p>
            <a:r>
              <a:rPr lang="en-US" sz="3000" dirty="0"/>
              <a:t>The formula for precision is:</a:t>
            </a:r>
          </a:p>
          <a:p>
            <a:r>
              <a:rPr lang="en-US" sz="3900" b="1" i="1" dirty="0"/>
              <a:t>TP ÷ (TP+FP)</a:t>
            </a:r>
            <a:endParaRPr lang="en-US" sz="39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5533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Precision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For our diabetes example:</a:t>
            </a:r>
          </a:p>
          <a:p>
            <a:r>
              <a:rPr lang="en-US" sz="3200" dirty="0"/>
              <a:t>3 ÷ (3+0)</a:t>
            </a:r>
          </a:p>
          <a:p>
            <a:r>
              <a:rPr lang="en-US" sz="3200" dirty="0"/>
              <a:t>= 3 ÷ 3</a:t>
            </a:r>
          </a:p>
          <a:p>
            <a:r>
              <a:rPr lang="en-US" sz="3200" dirty="0"/>
              <a:t>= </a:t>
            </a:r>
            <a:r>
              <a:rPr lang="en-US" sz="3200" b="1" dirty="0"/>
              <a:t>1.0</a:t>
            </a:r>
            <a:endParaRPr lang="en-US" sz="3200" dirty="0"/>
          </a:p>
          <a:p>
            <a:r>
              <a:rPr lang="en-US" sz="3200" dirty="0"/>
              <a:t>So 100% of the patients predicted by our model to have diabetes do in fact have diabetes.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181514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F1-score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i="1" dirty="0"/>
              <a:t>F1-score</a:t>
            </a:r>
            <a:r>
              <a:rPr lang="en-US" sz="3600" dirty="0"/>
              <a:t> is an overall metric that combined recall and precision.</a:t>
            </a:r>
          </a:p>
          <a:p>
            <a:r>
              <a:rPr lang="en-US" sz="3600" dirty="0"/>
              <a:t>The formula for F1-score is:</a:t>
            </a:r>
          </a:p>
          <a:p>
            <a:r>
              <a:rPr lang="en-US" sz="3600" b="1" i="1" dirty="0"/>
              <a:t>(2 x Precision x Recall) ÷ (Precision + Recall)</a:t>
            </a: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777009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F1-score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harmonic mean of Precision and Recall and gives a better measure of the incorrectly classified cases than the Accuracy Metric.</a:t>
            </a:r>
          </a:p>
          <a:p>
            <a:r>
              <a:rPr lang="en-US" sz="3200" dirty="0"/>
              <a:t>Accuracy is used when the True Positives and True negatives are more important</a:t>
            </a:r>
          </a:p>
          <a:p>
            <a:r>
              <a:rPr lang="en-US" sz="3200" dirty="0"/>
              <a:t>F1-score is used when the False Negatives and False Positives are crucial</a:t>
            </a:r>
          </a:p>
        </p:txBody>
      </p:sp>
    </p:spTree>
    <p:extLst>
      <p:ext uri="{BB962C8B-B14F-4D97-AF65-F5344CB8AC3E}">
        <p14:creationId xmlns:p14="http://schemas.microsoft.com/office/powerpoint/2010/main" val="33355799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F1-score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For our diabetes example:</a:t>
            </a:r>
          </a:p>
          <a:p>
            <a:r>
              <a:rPr lang="en-US" sz="3200" dirty="0"/>
              <a:t>(2 x 1.0 x 0.75) ÷ (1.0 + 0.75)</a:t>
            </a:r>
          </a:p>
          <a:p>
            <a:r>
              <a:rPr lang="en-US" sz="3200" dirty="0"/>
              <a:t>= 1.5 ÷ 1.75</a:t>
            </a:r>
          </a:p>
          <a:p>
            <a:r>
              <a:rPr lang="en-US" sz="3200" b="1" dirty="0"/>
              <a:t>= 0.86</a:t>
            </a:r>
            <a:endParaRPr lang="en-US" sz="32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510053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Area Under the Curve (AUC)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Another name for recall is the </a:t>
            </a:r>
            <a:r>
              <a:rPr lang="en-US" sz="4000" i="1" dirty="0"/>
              <a:t>true positive rate</a:t>
            </a:r>
            <a:r>
              <a:rPr lang="en-US" sz="4000" dirty="0"/>
              <a:t> (TPR), and there's an equivalent metric called the </a:t>
            </a:r>
            <a:r>
              <a:rPr lang="en-US" sz="4000" i="1" dirty="0"/>
              <a:t>false positive rate</a:t>
            </a:r>
            <a:r>
              <a:rPr lang="en-US" sz="4000" dirty="0"/>
              <a:t> (FPR)</a:t>
            </a:r>
          </a:p>
        </p:txBody>
      </p:sp>
    </p:spTree>
    <p:extLst>
      <p:ext uri="{BB962C8B-B14F-4D97-AF65-F5344CB8AC3E}">
        <p14:creationId xmlns:p14="http://schemas.microsoft.com/office/powerpoint/2010/main" val="27979445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Area Under the Curve (AUC)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 </a:t>
            </a:r>
            <a:r>
              <a:rPr lang="en-US" sz="3600" dirty="0"/>
              <a:t>if we were to change the threshold above which the model predicts </a:t>
            </a:r>
            <a:r>
              <a:rPr lang="en-US" sz="3600" i="1" dirty="0"/>
              <a:t>true</a:t>
            </a:r>
            <a:r>
              <a:rPr lang="en-US" sz="3600" dirty="0"/>
              <a:t> (</a:t>
            </a:r>
            <a:r>
              <a:rPr lang="en-US" sz="3600" b="1" dirty="0"/>
              <a:t>1</a:t>
            </a:r>
            <a:r>
              <a:rPr lang="en-US" sz="3600" dirty="0"/>
              <a:t>), it would affect the number of positive and negative predictions; and therefore change the TPR and FPR metrics.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674066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Area Under the Curve (AUC)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These metrics are often used to evaluate a model by plotting a </a:t>
            </a:r>
            <a:r>
              <a:rPr lang="en-US" sz="3600" i="1" dirty="0"/>
              <a:t>received operator characteristic</a:t>
            </a:r>
            <a:r>
              <a:rPr lang="en-US" sz="3600" dirty="0"/>
              <a:t> (ROC) curve that compares the TPR and FPR for every possible threshold value between 0.0 and 1.0: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1912589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Area Under the Curve (AUC)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83" t="43939" r="48474" b="18350"/>
          <a:stretch/>
        </p:blipFill>
        <p:spPr>
          <a:xfrm>
            <a:off x="609600" y="1447800"/>
            <a:ext cx="8001000" cy="5167744"/>
          </a:xfrm>
        </p:spPr>
      </p:pic>
    </p:spTree>
    <p:extLst>
      <p:ext uri="{BB962C8B-B14F-4D97-AF65-F5344CB8AC3E}">
        <p14:creationId xmlns:p14="http://schemas.microsoft.com/office/powerpoint/2010/main" val="26694747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5400" dirty="0"/>
              <a:t>Video for ROC curve and AUC</a:t>
            </a:r>
          </a:p>
          <a:p>
            <a:endParaRPr lang="en-US" sz="4800" dirty="0"/>
          </a:p>
          <a:p>
            <a:r>
              <a:rPr lang="en-US" sz="2800" dirty="0">
                <a:hlinkClick r:id="rId2"/>
              </a:rPr>
              <a:t>https://youtu.be/QBVzZBsif20?t=187</a:t>
            </a: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422293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Multiclass classification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it follows the same iterative </a:t>
            </a:r>
            <a:r>
              <a:rPr lang="en-US" sz="3600" i="1" dirty="0"/>
              <a:t>train, validate, and evaluate</a:t>
            </a:r>
            <a:r>
              <a:rPr lang="en-US" sz="3600" dirty="0"/>
              <a:t> process as regression and binary classification in which a subset of the training data is held back to validate the trained model.</a:t>
            </a:r>
          </a:p>
          <a:p>
            <a:r>
              <a:rPr lang="en-US" sz="3600" dirty="0"/>
              <a:t>Example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6349045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Training a multiclass classification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To train a multiclass classification model, we need to use an algorithm to fit the training data to a function that calculates a probability value for each possible class.</a:t>
            </a:r>
          </a:p>
          <a:p>
            <a:r>
              <a:rPr lang="en-US" sz="3600" dirty="0"/>
              <a:t>One-</a:t>
            </a:r>
            <a:r>
              <a:rPr lang="en-US" sz="3600" dirty="0" err="1"/>
              <a:t>vs</a:t>
            </a:r>
            <a:r>
              <a:rPr lang="en-US" sz="3600" dirty="0"/>
              <a:t>-Rest (</a:t>
            </a:r>
            <a:r>
              <a:rPr lang="en-US" sz="3600" dirty="0" err="1"/>
              <a:t>OvR</a:t>
            </a:r>
            <a:r>
              <a:rPr lang="en-US" sz="3600" dirty="0"/>
              <a:t>) algorithms</a:t>
            </a:r>
          </a:p>
          <a:p>
            <a:r>
              <a:rPr lang="en-US" sz="3600" dirty="0"/>
              <a:t>Multinomial algorithms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8769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One-</a:t>
            </a:r>
            <a:r>
              <a:rPr lang="en-US" sz="3600" b="1" dirty="0" err="1"/>
              <a:t>vs</a:t>
            </a:r>
            <a:r>
              <a:rPr lang="en-US" sz="3600" b="1" dirty="0"/>
              <a:t>-Rest (</a:t>
            </a:r>
            <a:r>
              <a:rPr lang="en-US" sz="3600" b="1" dirty="0" err="1"/>
              <a:t>OvR</a:t>
            </a:r>
            <a:r>
              <a:rPr lang="en-US" sz="3600" b="1" dirty="0"/>
              <a:t>) algorithms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One-</a:t>
            </a:r>
            <a:r>
              <a:rPr lang="en-US" sz="3600" dirty="0" err="1"/>
              <a:t>vs</a:t>
            </a:r>
            <a:r>
              <a:rPr lang="en-US" sz="3600" dirty="0"/>
              <a:t>-Rest algorithms train a binary classification function for each class, each calculating the probability that the observation is an example of the target class. </a:t>
            </a:r>
          </a:p>
          <a:p>
            <a:r>
              <a:rPr lang="en-US" sz="3600" dirty="0"/>
              <a:t> Each function calculates the probability of the observation being a specific class compared to </a:t>
            </a:r>
            <a:r>
              <a:rPr lang="en-US" sz="3600" i="1" dirty="0"/>
              <a:t>any</a:t>
            </a:r>
            <a:r>
              <a:rPr lang="en-US" sz="3600" dirty="0"/>
              <a:t> other class.</a:t>
            </a:r>
          </a:p>
        </p:txBody>
      </p:sp>
    </p:spTree>
    <p:extLst>
      <p:ext uri="{BB962C8B-B14F-4D97-AF65-F5344CB8AC3E}">
        <p14:creationId xmlns:p14="http://schemas.microsoft.com/office/powerpoint/2010/main" val="31060956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One-</a:t>
            </a:r>
            <a:r>
              <a:rPr lang="en-US" sz="3600" b="1" dirty="0" err="1"/>
              <a:t>vs</a:t>
            </a:r>
            <a:r>
              <a:rPr lang="en-US" sz="3600" b="1" dirty="0"/>
              <a:t>-Rest (</a:t>
            </a:r>
            <a:r>
              <a:rPr lang="en-US" sz="3600" b="1" dirty="0" err="1"/>
              <a:t>OvR</a:t>
            </a:r>
            <a:r>
              <a:rPr lang="en-US" sz="3600" b="1" dirty="0"/>
              <a:t>) algorithms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927" y="1981200"/>
            <a:ext cx="9067800" cy="4724401"/>
          </a:xfrm>
        </p:spPr>
        <p:txBody>
          <a:bodyPr>
            <a:normAutofit/>
          </a:bodyPr>
          <a:lstStyle/>
          <a:p>
            <a:pPr fontAlgn="base"/>
            <a:r>
              <a:rPr lang="en-US" sz="3200" dirty="0"/>
              <a:t>For example, given a multi-class classification problem with examples for each class ‘</a:t>
            </a:r>
            <a:r>
              <a:rPr lang="en-US" sz="3200" i="1" dirty="0"/>
              <a:t>red</a:t>
            </a:r>
            <a:r>
              <a:rPr lang="en-US" sz="3200" dirty="0"/>
              <a:t>,’ ‘</a:t>
            </a:r>
            <a:r>
              <a:rPr lang="en-US" sz="3200" i="1" dirty="0"/>
              <a:t>blue</a:t>
            </a:r>
            <a:r>
              <a:rPr lang="en-US" sz="3200" dirty="0"/>
              <a:t>,’ and ‘</a:t>
            </a:r>
            <a:r>
              <a:rPr lang="en-US" sz="3200" i="1" dirty="0"/>
              <a:t>green</a:t>
            </a:r>
            <a:r>
              <a:rPr lang="en-US" sz="3200" dirty="0"/>
              <a:t>‘. </a:t>
            </a:r>
          </a:p>
          <a:p>
            <a:pPr fontAlgn="base"/>
            <a:r>
              <a:rPr lang="en-US" sz="3200" b="1" dirty="0"/>
              <a:t>Binary Classification Problem 1</a:t>
            </a:r>
            <a:r>
              <a:rPr lang="en-US" sz="3200" dirty="0"/>
              <a:t>: red </a:t>
            </a:r>
            <a:r>
              <a:rPr lang="en-US" sz="3200" dirty="0" err="1"/>
              <a:t>vs</a:t>
            </a:r>
            <a:r>
              <a:rPr lang="en-US" sz="3200" dirty="0"/>
              <a:t> [blue, green]</a:t>
            </a:r>
          </a:p>
          <a:p>
            <a:pPr fontAlgn="base"/>
            <a:r>
              <a:rPr lang="en-US" sz="3200" b="1" dirty="0"/>
              <a:t>Binary Classification Problem 2</a:t>
            </a:r>
            <a:r>
              <a:rPr lang="en-US" sz="3200" dirty="0"/>
              <a:t>: blue </a:t>
            </a:r>
            <a:r>
              <a:rPr lang="en-US" sz="3200" dirty="0" err="1"/>
              <a:t>vs</a:t>
            </a:r>
            <a:r>
              <a:rPr lang="en-US" sz="3200" dirty="0"/>
              <a:t> [red, green]</a:t>
            </a:r>
          </a:p>
          <a:p>
            <a:pPr fontAlgn="base"/>
            <a:r>
              <a:rPr lang="en-US" sz="3200" b="1" dirty="0"/>
              <a:t>Binary Classification Problem 3</a:t>
            </a:r>
            <a:r>
              <a:rPr lang="en-US" sz="3200" dirty="0"/>
              <a:t>: green </a:t>
            </a:r>
            <a:r>
              <a:rPr lang="en-US" sz="3200" dirty="0" err="1"/>
              <a:t>vs</a:t>
            </a:r>
            <a:r>
              <a:rPr lang="en-US" sz="3200" dirty="0"/>
              <a:t> [red, blue]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1342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Video for multiclass classification (OVR) Algorithm </a:t>
            </a:r>
          </a:p>
          <a:p>
            <a:r>
              <a:rPr lang="en-US" sz="3600" dirty="0">
                <a:hlinkClick r:id="rId2"/>
              </a:rPr>
              <a:t>https://youtu.be/wvMjy5rdBU8?t=9</a:t>
            </a:r>
            <a:endParaRPr lang="en-US" sz="3600" dirty="0"/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703225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Multinomial algorithms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 an alternative approach is to use a multinomial algorithm, which creates a single function that returns a multi-valued output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258826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Multinomial algorithms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output is a </a:t>
            </a:r>
            <a:r>
              <a:rPr lang="en-US" sz="3600" i="1" dirty="0"/>
              <a:t>vector</a:t>
            </a:r>
            <a:r>
              <a:rPr lang="en-US" sz="3600" dirty="0"/>
              <a:t> (an array of values) that contains the </a:t>
            </a:r>
            <a:r>
              <a:rPr lang="en-US" sz="3600" i="1" dirty="0"/>
              <a:t>probability distribution</a:t>
            </a:r>
            <a:r>
              <a:rPr lang="en-US" sz="3600" dirty="0"/>
              <a:t> for all possible classes </a:t>
            </a:r>
          </a:p>
          <a:p>
            <a:r>
              <a:rPr lang="en-US" sz="4000" b="1" dirty="0"/>
              <a:t>P(</a:t>
            </a:r>
            <a:r>
              <a:rPr lang="en-US" sz="4000" b="1" dirty="0" err="1"/>
              <a:t>a|b</a:t>
            </a:r>
            <a:r>
              <a:rPr lang="en-US" sz="4000" b="1" dirty="0"/>
              <a:t>) = (P(</a:t>
            </a:r>
            <a:r>
              <a:rPr lang="en-US" sz="4000" b="1" dirty="0" err="1"/>
              <a:t>b|a</a:t>
            </a:r>
            <a:r>
              <a:rPr lang="en-US" sz="4000" b="1" dirty="0"/>
              <a:t>} * P(a)) / P(b)</a:t>
            </a:r>
          </a:p>
        </p:txBody>
      </p:sp>
    </p:spTree>
    <p:extLst>
      <p:ext uri="{BB962C8B-B14F-4D97-AF65-F5344CB8AC3E}">
        <p14:creationId xmlns:p14="http://schemas.microsoft.com/office/powerpoint/2010/main" val="330180216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Multinomial algorithms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20269"/>
            <a:ext cx="8686800" cy="4704331"/>
          </a:xfrm>
        </p:spPr>
      </p:pic>
    </p:spTree>
    <p:extLst>
      <p:ext uri="{BB962C8B-B14F-4D97-AF65-F5344CB8AC3E}">
        <p14:creationId xmlns:p14="http://schemas.microsoft.com/office/powerpoint/2010/main" val="92169276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7924800" cy="1143000"/>
          </a:xfrm>
        </p:spPr>
        <p:txBody>
          <a:bodyPr/>
          <a:lstStyle/>
          <a:p>
            <a:r>
              <a:rPr lang="en-US" sz="4400" b="1" dirty="0"/>
              <a:t>Evaluating a multiclass classification model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sz="3600" dirty="0"/>
              <a:t>evaluate a multiclass classifier by calculating binary classification metrics for each individual class</a:t>
            </a:r>
          </a:p>
          <a:p>
            <a:endParaRPr lang="en-US" sz="3600" dirty="0"/>
          </a:p>
          <a:p>
            <a:r>
              <a:rPr lang="en-US" sz="3600" dirty="0"/>
              <a:t>Alternatively, you can calculate aggregate metrics that take all classes into account.</a:t>
            </a:r>
          </a:p>
        </p:txBody>
      </p:sp>
    </p:spTree>
    <p:extLst>
      <p:ext uri="{BB962C8B-B14F-4D97-AF65-F5344CB8AC3E}">
        <p14:creationId xmlns:p14="http://schemas.microsoft.com/office/powerpoint/2010/main" val="33860934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Evaluating a multiclass classification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Draw confusion matrix for each class </a:t>
            </a:r>
          </a:p>
          <a:p>
            <a:r>
              <a:rPr lang="en-US" sz="3200" dirty="0"/>
              <a:t>Then do calculation for each class.</a:t>
            </a:r>
          </a:p>
          <a:p>
            <a:r>
              <a:rPr lang="en-US" sz="3200" dirty="0"/>
              <a:t>ACCURACY </a:t>
            </a:r>
          </a:p>
          <a:p>
            <a:r>
              <a:rPr lang="en-US" sz="3200" dirty="0"/>
              <a:t>PRECISION </a:t>
            </a:r>
          </a:p>
          <a:p>
            <a:r>
              <a:rPr lang="en-US" sz="3200" dirty="0"/>
              <a:t>RECALL </a:t>
            </a:r>
          </a:p>
          <a:p>
            <a:r>
              <a:rPr lang="en-US" sz="3200" dirty="0"/>
              <a:t>F-1 SCORE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40582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Evaluating a multiclass classification model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828800"/>
            <a:ext cx="7924800" cy="4648200"/>
          </a:xfrm>
        </p:spPr>
        <p:txBody>
          <a:bodyPr>
            <a:noAutofit/>
          </a:bodyPr>
          <a:lstStyle/>
          <a:p>
            <a:r>
              <a:rPr lang="en-US" sz="2800" dirty="0"/>
              <a:t>To calculate the overall accuracy, recall, and precision metrics, you use the total of the </a:t>
            </a:r>
            <a:r>
              <a:rPr lang="en-US" sz="2800" i="1" dirty="0"/>
              <a:t>TP</a:t>
            </a:r>
            <a:r>
              <a:rPr lang="en-US" sz="2800" dirty="0"/>
              <a:t>, </a:t>
            </a:r>
            <a:r>
              <a:rPr lang="en-US" sz="2800" i="1" dirty="0"/>
              <a:t>TN</a:t>
            </a:r>
            <a:r>
              <a:rPr lang="en-US" sz="2800" dirty="0"/>
              <a:t>, </a:t>
            </a:r>
            <a:r>
              <a:rPr lang="en-US" sz="2800" i="1" dirty="0"/>
              <a:t>FP</a:t>
            </a:r>
            <a:r>
              <a:rPr lang="en-US" sz="2800" dirty="0"/>
              <a:t>, and </a:t>
            </a:r>
            <a:r>
              <a:rPr lang="en-US" sz="2800" i="1" dirty="0"/>
              <a:t>FN</a:t>
            </a:r>
            <a:r>
              <a:rPr lang="en-US" sz="2800" dirty="0"/>
              <a:t> metrics</a:t>
            </a:r>
          </a:p>
          <a:p>
            <a:r>
              <a:rPr lang="en-US" sz="2800" b="1" dirty="0"/>
              <a:t>Overall accuracy</a:t>
            </a:r>
            <a:r>
              <a:rPr lang="en-US" sz="2800" dirty="0"/>
              <a:t> =(TP + TN) / (TP + TN + FP + FN) </a:t>
            </a:r>
          </a:p>
          <a:p>
            <a:r>
              <a:rPr lang="en-US" sz="2800" b="1" dirty="0"/>
              <a:t>Overall recall</a:t>
            </a:r>
            <a:r>
              <a:rPr lang="en-US" sz="2800" dirty="0"/>
              <a:t> =TP ÷ (TP + FN)</a:t>
            </a:r>
          </a:p>
          <a:p>
            <a:r>
              <a:rPr lang="en-US" sz="2800" b="1" dirty="0"/>
              <a:t>Overall precision =</a:t>
            </a:r>
            <a:r>
              <a:rPr lang="en-US" sz="2800" dirty="0"/>
              <a:t>TP ÷ (TP + FP)</a:t>
            </a:r>
          </a:p>
          <a:p>
            <a:r>
              <a:rPr lang="en-US" sz="2800" b="1" dirty="0"/>
              <a:t>Overall F1-score=  (</a:t>
            </a:r>
            <a:r>
              <a:rPr lang="en-US" sz="2800" dirty="0"/>
              <a:t>2 x Precision x Recall) ÷ (Precision + Recall)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447048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4800" dirty="0"/>
              <a:t>Video for  Confusion matrix for multiclass evaluation </a:t>
            </a:r>
          </a:p>
          <a:p>
            <a:r>
              <a:rPr lang="en-US" dirty="0">
                <a:hlinkClick r:id="rId2"/>
              </a:rPr>
              <a:t>https://youtu.be/gkNccYwtAbU?t=296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8121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/>
              <a:t>Clustering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4000" i="1" dirty="0"/>
              <a:t>Clustering</a:t>
            </a:r>
            <a:r>
              <a:rPr lang="en-US" sz="4000" dirty="0"/>
              <a:t> is a form of unsupervised machine learning in which observations are grouped into clusters based on similarities in their data values, or features</a:t>
            </a:r>
          </a:p>
          <a:p>
            <a:r>
              <a:rPr lang="en-US" sz="4000" dirty="0"/>
              <a:t>Example ? 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5338979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57201"/>
            <a:ext cx="8382000" cy="6123708"/>
          </a:xfrm>
        </p:spPr>
      </p:pic>
    </p:spTree>
    <p:extLst>
      <p:ext uri="{BB962C8B-B14F-4D97-AF65-F5344CB8AC3E}">
        <p14:creationId xmlns:p14="http://schemas.microsoft.com/office/powerpoint/2010/main" val="40858323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Training a clustering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4800" dirty="0"/>
              <a:t>here are multiple algorithms you can use for clustering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r>
              <a:rPr lang="en-US" sz="4000" dirty="0"/>
              <a:t>One of the most commonly used algorithms is </a:t>
            </a:r>
            <a:r>
              <a:rPr lang="en-US" sz="4000" i="1" dirty="0"/>
              <a:t>K-Means</a:t>
            </a:r>
            <a:r>
              <a:rPr lang="en-US" sz="4000" dirty="0"/>
              <a:t> clustering, which consists of the following steps:</a:t>
            </a:r>
          </a:p>
        </p:txBody>
      </p:sp>
    </p:spTree>
    <p:extLst>
      <p:ext uri="{BB962C8B-B14F-4D97-AF65-F5344CB8AC3E}">
        <p14:creationId xmlns:p14="http://schemas.microsoft.com/office/powerpoint/2010/main" val="37665394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924800" cy="1143000"/>
          </a:xfrm>
        </p:spPr>
        <p:txBody>
          <a:bodyPr/>
          <a:lstStyle/>
          <a:p>
            <a:r>
              <a:rPr lang="en-US" sz="4800" b="1" dirty="0"/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600200"/>
            <a:ext cx="85344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take the clusters ( no. of clusters ) may be given in data.</a:t>
            </a:r>
          </a:p>
          <a:p>
            <a:r>
              <a:rPr lang="en-US" sz="2800" dirty="0"/>
              <a:t>take centroid of each cluster </a:t>
            </a:r>
          </a:p>
          <a:p>
            <a:r>
              <a:rPr lang="en-US" sz="2800" dirty="0"/>
              <a:t>Other values considers as observed vales (under consideration)</a:t>
            </a:r>
          </a:p>
          <a:p>
            <a:r>
              <a:rPr lang="en-US" sz="2800" dirty="0"/>
              <a:t>Use the Euclidean distance formula for distance measurement</a:t>
            </a:r>
          </a:p>
          <a:p>
            <a:r>
              <a:rPr lang="en-US" sz="2800" dirty="0"/>
              <a:t>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46" t="48787" b="25607"/>
          <a:stretch/>
        </p:blipFill>
        <p:spPr>
          <a:xfrm>
            <a:off x="1447800" y="5257800"/>
            <a:ext cx="5527964" cy="131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50316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7924800" cy="1143000"/>
          </a:xfrm>
        </p:spPr>
        <p:txBody>
          <a:bodyPr/>
          <a:lstStyle/>
          <a:p>
            <a:r>
              <a:rPr lang="en-US" sz="4000" b="1" dirty="0"/>
              <a:t>K-Means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600200"/>
            <a:ext cx="9220200" cy="4953000"/>
          </a:xfrm>
        </p:spPr>
        <p:txBody>
          <a:bodyPr>
            <a:normAutofit/>
          </a:bodyPr>
          <a:lstStyle/>
          <a:p>
            <a:r>
              <a:rPr lang="en-US" sz="3200" dirty="0"/>
              <a:t>Write next observation after finding distance</a:t>
            </a:r>
          </a:p>
          <a:p>
            <a:pPr marL="0" indent="0">
              <a:buNone/>
            </a:pPr>
            <a:r>
              <a:rPr lang="en-US" sz="3200" dirty="0"/>
              <a:t>  w.r.t    K1, K2</a:t>
            </a:r>
          </a:p>
          <a:p>
            <a:r>
              <a:rPr lang="en-US" sz="3200" dirty="0"/>
              <a:t>Write in cluster which is close  (has less distance )</a:t>
            </a:r>
          </a:p>
          <a:p>
            <a:r>
              <a:rPr lang="en-US" sz="3200" dirty="0"/>
              <a:t>Update centroid after adding new observation in class. </a:t>
            </a:r>
          </a:p>
          <a:p>
            <a:r>
              <a:rPr lang="en-US" sz="3200" dirty="0"/>
              <a:t>Update centroid by taking the average value of points. </a:t>
            </a:r>
          </a:p>
        </p:txBody>
      </p:sp>
    </p:spTree>
    <p:extLst>
      <p:ext uri="{BB962C8B-B14F-4D97-AF65-F5344CB8AC3E}">
        <p14:creationId xmlns:p14="http://schemas.microsoft.com/office/powerpoint/2010/main" val="356256679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Evaluating a clustering model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There are multiple metrics that you can use to evaluate cluster separation, including:</a:t>
            </a:r>
          </a:p>
          <a:p>
            <a:r>
              <a:rPr lang="en-US" sz="3600" b="1" dirty="0"/>
              <a:t>Average distance to cluster center:</a:t>
            </a:r>
          </a:p>
          <a:p>
            <a:r>
              <a:rPr lang="en-US" sz="3600" b="1" dirty="0"/>
              <a:t>Average distance to other center</a:t>
            </a:r>
            <a:r>
              <a:rPr lang="en-US" sz="3600" dirty="0"/>
              <a:t>: </a:t>
            </a:r>
          </a:p>
          <a:p>
            <a:r>
              <a:rPr lang="en-US" sz="3600" b="1" dirty="0"/>
              <a:t>Maximum distance to cluster center</a:t>
            </a:r>
            <a:r>
              <a:rPr lang="en-US" sz="3600" dirty="0"/>
              <a:t>:</a:t>
            </a:r>
          </a:p>
          <a:p>
            <a:r>
              <a:rPr lang="en-US" sz="3600" b="1" dirty="0"/>
              <a:t>Silhouette</a:t>
            </a:r>
            <a:r>
              <a:rPr lang="en-US" sz="36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4605016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7924800" cy="1447800"/>
          </a:xfrm>
        </p:spPr>
        <p:txBody>
          <a:bodyPr/>
          <a:lstStyle/>
          <a:p>
            <a:r>
              <a:rPr lang="en-US" sz="4400" b="1" dirty="0"/>
              <a:t>Average distance to cluster center: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981200"/>
            <a:ext cx="7924800" cy="4343400"/>
          </a:xfrm>
        </p:spPr>
        <p:txBody>
          <a:bodyPr/>
          <a:lstStyle/>
          <a:p>
            <a:pPr algn="just"/>
            <a:r>
              <a:rPr lang="en-US" sz="4400" dirty="0"/>
              <a:t>measures how close data points are to the centroid of their cluster.</a:t>
            </a:r>
          </a:p>
          <a:p>
            <a:pPr marL="0" indent="0" algn="just">
              <a:buNone/>
            </a:pPr>
            <a:r>
              <a:rPr lang="en-US" sz="3600" dirty="0"/>
              <a:t> </a:t>
            </a:r>
          </a:p>
          <a:p>
            <a:pPr algn="just"/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7453573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477962"/>
          </a:xfrm>
        </p:spPr>
        <p:txBody>
          <a:bodyPr/>
          <a:lstStyle/>
          <a:p>
            <a:r>
              <a:rPr lang="en-US" sz="4000" b="1" dirty="0"/>
              <a:t>Average distance to other center</a:t>
            </a:r>
            <a:r>
              <a:rPr lang="en-US" sz="4000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905000"/>
            <a:ext cx="7924800" cy="41148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How close, on average, each point in the cluster is to the centroid of all other clusters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404387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7924800" cy="1143000"/>
          </a:xfrm>
        </p:spPr>
        <p:txBody>
          <a:bodyPr/>
          <a:lstStyle/>
          <a:p>
            <a:r>
              <a:rPr lang="en-US" sz="4400" b="1" dirty="0"/>
              <a:t>Maximum distance to cluster center</a:t>
            </a:r>
            <a:r>
              <a:rPr lang="en-US" sz="4400" dirty="0"/>
              <a:t>:</a:t>
            </a: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2057400"/>
            <a:ext cx="7924800" cy="4114800"/>
          </a:xfrm>
        </p:spPr>
        <p:txBody>
          <a:bodyPr>
            <a:normAutofit/>
          </a:bodyPr>
          <a:lstStyle/>
          <a:p>
            <a:r>
              <a:rPr lang="en-US" sz="3600" dirty="0"/>
              <a:t>The furthest distance between a point in the cluster and its centroid.</a:t>
            </a:r>
          </a:p>
        </p:txBody>
      </p:sp>
    </p:spTree>
    <p:extLst>
      <p:ext uri="{BB962C8B-B14F-4D97-AF65-F5344CB8AC3E}">
        <p14:creationId xmlns:p14="http://schemas.microsoft.com/office/powerpoint/2010/main" val="3515610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Deep learning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5029200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r>
              <a:rPr lang="en-US" sz="4600" i="1" dirty="0"/>
              <a:t>Deep learning</a:t>
            </a:r>
            <a:r>
              <a:rPr lang="en-US" sz="4600" dirty="0"/>
              <a:t> is an advanced form of machine learning that tries to emulate the way the human brain learns. </a:t>
            </a:r>
          </a:p>
          <a:p>
            <a:endParaRPr lang="en-US" sz="4600" dirty="0"/>
          </a:p>
          <a:p>
            <a:r>
              <a:rPr lang="en-US" sz="4600" dirty="0"/>
              <a:t> The key to deep learning is the creation of an artificial </a:t>
            </a:r>
            <a:r>
              <a:rPr lang="en-US" sz="4600" i="1" dirty="0"/>
              <a:t>neural network</a:t>
            </a:r>
            <a:r>
              <a:rPr lang="en-US" sz="4600" dirty="0"/>
              <a:t> that simulates electrochemical activity in biological neurons by using mathematical functions</a:t>
            </a:r>
            <a:r>
              <a:rPr lang="en-US" sz="1800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6715059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727" y="1607127"/>
            <a:ext cx="4267200" cy="4343400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27" y="1600200"/>
            <a:ext cx="41148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5568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477962"/>
          </a:xfrm>
        </p:spPr>
        <p:txBody>
          <a:bodyPr/>
          <a:lstStyle/>
          <a:p>
            <a:r>
              <a:rPr lang="en-US" sz="4400" b="1" dirty="0"/>
              <a:t>Example - Using deep learning for classification</a:t>
            </a:r>
            <a:endParaRPr lang="en-US" sz="4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7" y="2286000"/>
            <a:ext cx="9144000" cy="4191000"/>
          </a:xfrm>
        </p:spPr>
      </p:pic>
    </p:spTree>
    <p:extLst>
      <p:ext uri="{BB962C8B-B14F-4D97-AF65-F5344CB8AC3E}">
        <p14:creationId xmlns:p14="http://schemas.microsoft.com/office/powerpoint/2010/main" val="87300792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Architecture of a Neural Network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00200"/>
            <a:ext cx="8582891" cy="4502727"/>
          </a:xfrm>
        </p:spPr>
      </p:pic>
    </p:spTree>
    <p:extLst>
      <p:ext uri="{BB962C8B-B14F-4D97-AF65-F5344CB8AC3E}">
        <p14:creationId xmlns:p14="http://schemas.microsoft.com/office/powerpoint/2010/main" val="210985473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8077200" cy="6477000"/>
          </a:xfrm>
        </p:spPr>
      </p:pic>
    </p:spTree>
    <p:extLst>
      <p:ext uri="{BB962C8B-B14F-4D97-AF65-F5344CB8AC3E}">
        <p14:creationId xmlns:p14="http://schemas.microsoft.com/office/powerpoint/2010/main" val="241551277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Types of neural network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ANNs (Artificial Neural Networks) are helpful for solving complex problems. </a:t>
            </a:r>
          </a:p>
          <a:p>
            <a:r>
              <a:rPr lang="en-US" sz="3200" dirty="0"/>
              <a:t>CNNs (Convolution Neural Networks) are best for solving Computer Vision-related problems. </a:t>
            </a:r>
          </a:p>
          <a:p>
            <a:r>
              <a:rPr lang="en-US" sz="3200" dirty="0"/>
              <a:t>RNNs (Recurrent Neural Networks) are proficient in Natural Language Processing.</a:t>
            </a:r>
          </a:p>
        </p:txBody>
      </p:sp>
    </p:spTree>
    <p:extLst>
      <p:ext uri="{BB962C8B-B14F-4D97-AF65-F5344CB8AC3E}">
        <p14:creationId xmlns:p14="http://schemas.microsoft.com/office/powerpoint/2010/main" val="71708289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OVERFITTING &amp; UNDERFITTING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Under fit models experience high bias—they give inaccurate results for both the training data and test set</a:t>
            </a:r>
          </a:p>
          <a:p>
            <a:r>
              <a:rPr lang="en-US" sz="3600" dirty="0"/>
              <a:t> On the other hand, </a:t>
            </a:r>
            <a:r>
              <a:rPr lang="en-US" sz="3600" b="1" dirty="0"/>
              <a:t>over fit </a:t>
            </a:r>
            <a:r>
              <a:rPr lang="en-US" sz="3600" dirty="0"/>
              <a:t>models experience high variance—they give accurate results for the training set but not for the test set.</a:t>
            </a:r>
          </a:p>
        </p:txBody>
      </p:sp>
    </p:spTree>
    <p:extLst>
      <p:ext uri="{BB962C8B-B14F-4D97-AF65-F5344CB8AC3E}">
        <p14:creationId xmlns:p14="http://schemas.microsoft.com/office/powerpoint/2010/main" val="156382114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Azure Machine Learning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Microsoft Azure Machine Learning is a cloud service for training, deploying, and managing machine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31171206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924800" cy="1143000"/>
          </a:xfrm>
        </p:spPr>
        <p:txBody>
          <a:bodyPr/>
          <a:lstStyle/>
          <a:p>
            <a:r>
              <a:rPr lang="en-US" sz="4400" b="1" dirty="0"/>
              <a:t>Azure Machine Learning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designed to be used by data scientists, software engineers, </a:t>
            </a:r>
            <a:r>
              <a:rPr lang="en-US" sz="3200" dirty="0" err="1"/>
              <a:t>devops</a:t>
            </a:r>
            <a:r>
              <a:rPr lang="en-US" sz="3200" dirty="0"/>
              <a:t> professionals, and others to manage the end-to-end lifecycle of machine learning projects, </a:t>
            </a:r>
          </a:p>
          <a:p>
            <a:r>
              <a:rPr lang="en-US" sz="3200" b="1" dirty="0"/>
              <a:t>including: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7064371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Azure Machine Learning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Exploring data and preparing it for modeling.</a:t>
            </a:r>
          </a:p>
          <a:p>
            <a:r>
              <a:rPr lang="en-US" sz="2800" dirty="0"/>
              <a:t>Training and evaluating machine learning models.</a:t>
            </a:r>
          </a:p>
          <a:p>
            <a:r>
              <a:rPr lang="en-US" sz="2800" dirty="0"/>
              <a:t>Registering and managing trained models.</a:t>
            </a:r>
          </a:p>
          <a:p>
            <a:r>
              <a:rPr lang="en-US" sz="2800" dirty="0"/>
              <a:t>Deploying trained models for use by applications and services.</a:t>
            </a:r>
          </a:p>
          <a:p>
            <a:r>
              <a:rPr lang="en-US" sz="2800" dirty="0"/>
              <a:t>Reviewing and applying responsible AI principles and practices.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0120531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33400"/>
            <a:ext cx="8915400" cy="6019800"/>
          </a:xfrm>
        </p:spPr>
      </p:pic>
    </p:spTree>
    <p:extLst>
      <p:ext uri="{BB962C8B-B14F-4D97-AF65-F5344CB8AC3E}">
        <p14:creationId xmlns:p14="http://schemas.microsoft.com/office/powerpoint/2010/main" val="99266222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09600"/>
            <a:ext cx="8610600" cy="6248400"/>
          </a:xfrm>
        </p:spPr>
      </p:pic>
    </p:spTree>
    <p:extLst>
      <p:ext uri="{BB962C8B-B14F-4D97-AF65-F5344CB8AC3E}">
        <p14:creationId xmlns:p14="http://schemas.microsoft.com/office/powerpoint/2010/main" val="59652550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762000"/>
            <a:ext cx="8382000" cy="5410200"/>
          </a:xfrm>
        </p:spPr>
      </p:pic>
    </p:spTree>
    <p:extLst>
      <p:ext uri="{BB962C8B-B14F-4D97-AF65-F5344CB8AC3E}">
        <p14:creationId xmlns:p14="http://schemas.microsoft.com/office/powerpoint/2010/main" val="219660867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Features and capabilities of Azure Machine Learning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r>
              <a:rPr lang="en-US" sz="3200" dirty="0"/>
              <a:t>Centralized storage and management of datasets for model training and evaluation.</a:t>
            </a:r>
          </a:p>
          <a:p>
            <a:r>
              <a:rPr lang="en-US" sz="3200" dirty="0"/>
              <a:t>On-demand compute resources on which you can run machine learning jobs, such as training a model.</a:t>
            </a:r>
          </a:p>
        </p:txBody>
      </p:sp>
    </p:spTree>
    <p:extLst>
      <p:ext uri="{BB962C8B-B14F-4D97-AF65-F5344CB8AC3E}">
        <p14:creationId xmlns:p14="http://schemas.microsoft.com/office/powerpoint/2010/main" val="13981890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609600"/>
            <a:ext cx="7924800" cy="5105400"/>
          </a:xfrm>
        </p:spPr>
        <p:txBody>
          <a:bodyPr>
            <a:normAutofit/>
          </a:bodyPr>
          <a:lstStyle/>
          <a:p>
            <a:r>
              <a:rPr lang="en-US" sz="3200" dirty="0"/>
              <a:t>Automated machine learning (</a:t>
            </a:r>
            <a:r>
              <a:rPr lang="en-US" sz="3200" dirty="0" err="1"/>
              <a:t>AutoML</a:t>
            </a:r>
            <a:r>
              <a:rPr lang="en-US" sz="3200" dirty="0"/>
              <a:t>), which makes it easy to run multiple training jobs with different algorithms and parameters to find the best model for your data.</a:t>
            </a:r>
          </a:p>
          <a:p>
            <a:endParaRPr lang="en-US" sz="3200" dirty="0"/>
          </a:p>
          <a:p>
            <a:r>
              <a:rPr lang="en-US" sz="3200" dirty="0"/>
              <a:t>Built-in support for visualizing and evaluating metrics for responsible AI, including model explain ability, fairness assessment, and others.</a:t>
            </a:r>
          </a:p>
          <a:p>
            <a:endParaRPr lang="en-US" sz="2400" dirty="0"/>
          </a:p>
          <a:p>
            <a:endParaRPr lang="en-US" sz="32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1402893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630362"/>
          </a:xfrm>
        </p:spPr>
        <p:txBody>
          <a:bodyPr/>
          <a:lstStyle/>
          <a:p>
            <a:r>
              <a:rPr lang="en-US" sz="4400" b="1" dirty="0"/>
              <a:t>Provisioning Azure Machine Learning resources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1905000"/>
            <a:ext cx="7924800" cy="4419600"/>
          </a:xfrm>
        </p:spPr>
        <p:txBody>
          <a:bodyPr>
            <a:normAutofit/>
          </a:bodyPr>
          <a:lstStyle/>
          <a:p>
            <a:r>
              <a:rPr lang="en-US" sz="4000" dirty="0"/>
              <a:t>The primary resource required for Azure Machine Learning is an </a:t>
            </a:r>
            <a:r>
              <a:rPr lang="en-US" sz="4000" i="1" dirty="0"/>
              <a:t>Azure Machine Learning workspace</a:t>
            </a:r>
          </a:p>
          <a:p>
            <a:r>
              <a:rPr lang="en-US" sz="4000" i="1" dirty="0"/>
              <a:t>Demo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3341599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7708"/>
            <a:ext cx="8686800" cy="6677891"/>
          </a:xfrm>
        </p:spPr>
      </p:pic>
    </p:spTree>
    <p:extLst>
      <p:ext uri="{BB962C8B-B14F-4D97-AF65-F5344CB8AC3E}">
        <p14:creationId xmlns:p14="http://schemas.microsoft.com/office/powerpoint/2010/main" val="59933769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Azure Machine Learning studio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After you have provisioned an Azure Machine Learning workspace, you can use it in </a:t>
            </a:r>
            <a:r>
              <a:rPr lang="en-US" sz="2800" i="1" dirty="0"/>
              <a:t>Azure Machine Learning studio</a:t>
            </a:r>
          </a:p>
          <a:p>
            <a:endParaRPr lang="en-US" sz="2800" i="1" dirty="0"/>
          </a:p>
          <a:p>
            <a:r>
              <a:rPr lang="en-US" sz="2800" dirty="0"/>
              <a:t>a browser-based portal for managing your machine learning resources and jobs.</a:t>
            </a:r>
          </a:p>
        </p:txBody>
      </p:sp>
    </p:spTree>
    <p:extLst>
      <p:ext uri="{BB962C8B-B14F-4D97-AF65-F5344CB8AC3E}">
        <p14:creationId xmlns:p14="http://schemas.microsoft.com/office/powerpoint/2010/main" val="195968352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73181"/>
            <a:ext cx="8839200" cy="6456219"/>
          </a:xfrm>
        </p:spPr>
      </p:pic>
    </p:spTree>
    <p:extLst>
      <p:ext uri="{BB962C8B-B14F-4D97-AF65-F5344CB8AC3E}">
        <p14:creationId xmlns:p14="http://schemas.microsoft.com/office/powerpoint/2010/main" val="31508579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Azure Machine Learning studio: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Drag and drop tool for building machine learning models.</a:t>
            </a:r>
          </a:p>
          <a:p>
            <a:r>
              <a:rPr lang="en-US" sz="3200" dirty="0"/>
              <a:t>Cloud based tool that can be used to built models from scratch or to use pre -built  models </a:t>
            </a:r>
          </a:p>
          <a:p>
            <a:r>
              <a:rPr lang="en-US" sz="3200" dirty="0"/>
              <a:t>Azure ML studio is a visual tool that does not require any coding knowledge to use.</a:t>
            </a:r>
          </a:p>
          <a:p>
            <a:r>
              <a:rPr lang="en-US" sz="3200" dirty="0"/>
              <a:t>It a great tool for beginners and experts alike.</a:t>
            </a:r>
          </a:p>
          <a:p>
            <a:pPr marL="0" indent="0">
              <a:buNone/>
            </a:pPr>
            <a:r>
              <a:rPr 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574714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0" y="457200"/>
            <a:ext cx="8991600" cy="7696200"/>
          </a:xfrm>
        </p:spPr>
        <p:txBody>
          <a:bodyPr>
            <a:noAutofit/>
          </a:bodyPr>
          <a:lstStyle/>
          <a:p>
            <a:r>
              <a:rPr lang="en-US" sz="2800" dirty="0"/>
              <a:t>import and explore data.</a:t>
            </a:r>
          </a:p>
          <a:p>
            <a:r>
              <a:rPr lang="en-US" sz="2800" dirty="0"/>
              <a:t>Create and use compute resources.</a:t>
            </a:r>
          </a:p>
          <a:p>
            <a:r>
              <a:rPr lang="en-US" sz="2800" dirty="0"/>
              <a:t>Run code in notebooks.</a:t>
            </a:r>
          </a:p>
          <a:p>
            <a:r>
              <a:rPr lang="en-US" sz="2800" dirty="0"/>
              <a:t>Use visual tools to create jobs and pipelines.</a:t>
            </a:r>
          </a:p>
          <a:p>
            <a:r>
              <a:rPr lang="en-US" sz="2800" dirty="0"/>
              <a:t>Use automated machine learning to train models.</a:t>
            </a:r>
          </a:p>
          <a:p>
            <a:r>
              <a:rPr lang="en-US" sz="2800" dirty="0"/>
              <a:t>View details of trained models, including evaluation metrics, responsible AI information, and training parameters.</a:t>
            </a:r>
          </a:p>
          <a:p>
            <a:r>
              <a:rPr lang="en-US" sz="2800" dirty="0"/>
              <a:t>Deploy trained models for on-request and batch </a:t>
            </a:r>
            <a:r>
              <a:rPr lang="en-US" sz="2800" dirty="0" err="1"/>
              <a:t>inferencing</a:t>
            </a:r>
            <a:r>
              <a:rPr lang="en-US" sz="2800" dirty="0"/>
              <a:t>.</a:t>
            </a:r>
          </a:p>
          <a:p>
            <a:r>
              <a:rPr lang="en-US" sz="2800" dirty="0"/>
              <a:t>Import and manage models from a comprehensive model catalog.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4213360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09600" y="609600"/>
            <a:ext cx="7924800" cy="5410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8000" b="1" dirty="0"/>
              <a:t>AZURE MACHINE LEARNING EXERCISE LAB </a:t>
            </a:r>
          </a:p>
        </p:txBody>
      </p:sp>
    </p:spTree>
    <p:extLst>
      <p:ext uri="{BB962C8B-B14F-4D97-AF65-F5344CB8AC3E}">
        <p14:creationId xmlns:p14="http://schemas.microsoft.com/office/powerpoint/2010/main" val="1018277255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2568</TotalTime>
  <Words>2114</Words>
  <Application>Microsoft Office PowerPoint</Application>
  <PresentationFormat>On-screen Show (4:3)</PresentationFormat>
  <Paragraphs>377</Paragraphs>
  <Slides>121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5" baseType="lpstr">
      <vt:lpstr>Arial</vt:lpstr>
      <vt:lpstr>Arial Narrow</vt:lpstr>
      <vt:lpstr>Calibri</vt:lpstr>
      <vt:lpstr>Horizon</vt:lpstr>
      <vt:lpstr>Artificial intelligence &amp; machine learning lecture #3</vt:lpstr>
      <vt:lpstr>Understand natural language processing</vt:lpstr>
      <vt:lpstr>Understand natural language processing</vt:lpstr>
      <vt:lpstr>Understand natural language processing</vt:lpstr>
      <vt:lpstr>Natural language processing in Microsoft Azure</vt:lpstr>
      <vt:lpstr>Understand document intelligence and knowledge mining</vt:lpstr>
      <vt:lpstr>Document intelligence in Microsoft Azure</vt:lpstr>
      <vt:lpstr>Document intelligence in Microsoft Azure</vt:lpstr>
      <vt:lpstr>PowerPoint Presentation</vt:lpstr>
      <vt:lpstr>Knowledge Mining</vt:lpstr>
      <vt:lpstr>Knowledge mining in Microsoft Azure</vt:lpstr>
      <vt:lpstr>Knowledge mining in Microsoft Azure</vt:lpstr>
      <vt:lpstr>Azure ai search </vt:lpstr>
      <vt:lpstr>   Understand generative AI</vt:lpstr>
      <vt:lpstr>Generative AI in Microsoft Azure</vt:lpstr>
      <vt:lpstr>Generative AI in Microsoft Azure</vt:lpstr>
      <vt:lpstr>Challenges and risks with AI </vt:lpstr>
      <vt:lpstr> Challenges and risks with AI</vt:lpstr>
      <vt:lpstr>Understand Responsible AI</vt:lpstr>
      <vt:lpstr>Understand Responsible AI</vt:lpstr>
      <vt:lpstr>Module #2 </vt:lpstr>
      <vt:lpstr> Fundamentals of machine learning</vt:lpstr>
      <vt:lpstr>Introduction</vt:lpstr>
      <vt:lpstr>What is machine learning?</vt:lpstr>
      <vt:lpstr>Machine learning as a function</vt:lpstr>
      <vt:lpstr>Types of machine learning</vt:lpstr>
      <vt:lpstr>Supervised machine learning</vt:lpstr>
      <vt:lpstr>SUPERVISED MACHINE LEARNING ALGORITHMS:</vt:lpstr>
      <vt:lpstr>Supervised machine learning </vt:lpstr>
      <vt:lpstr>Supervised machine learning </vt:lpstr>
      <vt:lpstr>Unsupervised machine learning</vt:lpstr>
      <vt:lpstr>Unsupervised machine learning</vt:lpstr>
      <vt:lpstr>Regression </vt:lpstr>
      <vt:lpstr>Regression </vt:lpstr>
      <vt:lpstr>Linear REGRESSION </vt:lpstr>
      <vt:lpstr>Linear REGRESSION </vt:lpstr>
      <vt:lpstr>Linear Regression</vt:lpstr>
      <vt:lpstr>LOGISTIC Regression</vt:lpstr>
      <vt:lpstr>LOGISTIC Regression</vt:lpstr>
      <vt:lpstr>LOGISTIC Regression</vt:lpstr>
      <vt:lpstr>LINEAER VS LOGISTIC REGRESSION:</vt:lpstr>
      <vt:lpstr>LINEAER VS LOGISTIC REGRESSION:</vt:lpstr>
      <vt:lpstr>Regression evaluation metrics</vt:lpstr>
      <vt:lpstr>Regression evaluation metrics</vt:lpstr>
      <vt:lpstr>Regression evaluation metrics</vt:lpstr>
      <vt:lpstr>Mean Absolute Error (MAE)</vt:lpstr>
      <vt:lpstr>Mean Squared Error (MSE)</vt:lpstr>
      <vt:lpstr>Root Mean Squared Error (RMSE)</vt:lpstr>
      <vt:lpstr>Coefficient of determination (R2)</vt:lpstr>
      <vt:lpstr>PowerPoint Presentation</vt:lpstr>
      <vt:lpstr>Iterative training</vt:lpstr>
      <vt:lpstr>Binary classification</vt:lpstr>
      <vt:lpstr>Binary classification</vt:lpstr>
      <vt:lpstr>Binary classification</vt:lpstr>
      <vt:lpstr>PowerPoint Presentation</vt:lpstr>
      <vt:lpstr>S-CURVED GRAPH</vt:lpstr>
      <vt:lpstr>Binary classification evaluation metrics</vt:lpstr>
      <vt:lpstr>confusion matrix</vt:lpstr>
      <vt:lpstr>confusion matrix</vt:lpstr>
      <vt:lpstr>confusion matrix</vt:lpstr>
      <vt:lpstr>confusion matrix</vt:lpstr>
      <vt:lpstr>confusion matrix</vt:lpstr>
      <vt:lpstr>Binary classification evaluation metrics</vt:lpstr>
      <vt:lpstr>Accuracy: </vt:lpstr>
      <vt:lpstr>Accuracy: </vt:lpstr>
      <vt:lpstr>ERROR RATE : </vt:lpstr>
      <vt:lpstr>Recall</vt:lpstr>
      <vt:lpstr>Recall</vt:lpstr>
      <vt:lpstr>Precision</vt:lpstr>
      <vt:lpstr>Precision</vt:lpstr>
      <vt:lpstr>F1-score</vt:lpstr>
      <vt:lpstr>F1-score</vt:lpstr>
      <vt:lpstr>F1-score</vt:lpstr>
      <vt:lpstr>Area Under the Curve (AUC)</vt:lpstr>
      <vt:lpstr>Area Under the Curve (AUC) </vt:lpstr>
      <vt:lpstr>Area Under the Curve (AUC) </vt:lpstr>
      <vt:lpstr>Area Under the Curve (AUC)</vt:lpstr>
      <vt:lpstr>PowerPoint Presentation</vt:lpstr>
      <vt:lpstr>Multiclass classification</vt:lpstr>
      <vt:lpstr>Training a multiclass classification model</vt:lpstr>
      <vt:lpstr>One-vs-Rest (OvR) algorithms</vt:lpstr>
      <vt:lpstr>One-vs-Rest (OvR) algorithms</vt:lpstr>
      <vt:lpstr>PowerPoint Presentation</vt:lpstr>
      <vt:lpstr>Multinomial algorithms</vt:lpstr>
      <vt:lpstr>Multinomial algorithms</vt:lpstr>
      <vt:lpstr>Multinomial algorithms</vt:lpstr>
      <vt:lpstr>Evaluating a multiclass classification model</vt:lpstr>
      <vt:lpstr>Evaluating a multiclass classification model</vt:lpstr>
      <vt:lpstr>Evaluating a multiclass classification model</vt:lpstr>
      <vt:lpstr>PowerPoint Presentation</vt:lpstr>
      <vt:lpstr>Clustering</vt:lpstr>
      <vt:lpstr>PowerPoint Presentation</vt:lpstr>
      <vt:lpstr>Training a clustering model</vt:lpstr>
      <vt:lpstr>k-means clustering</vt:lpstr>
      <vt:lpstr>K-Means  </vt:lpstr>
      <vt:lpstr>Evaluating a clustering model </vt:lpstr>
      <vt:lpstr>Average distance to cluster center:</vt:lpstr>
      <vt:lpstr>Average distance to other center:</vt:lpstr>
      <vt:lpstr>Maximum distance to cluster center: </vt:lpstr>
      <vt:lpstr>Deep learning</vt:lpstr>
      <vt:lpstr>PowerPoint Presentation</vt:lpstr>
      <vt:lpstr>Example - Using deep learning for classification</vt:lpstr>
      <vt:lpstr>The Architecture of a Neural Network</vt:lpstr>
      <vt:lpstr>PowerPoint Presentation</vt:lpstr>
      <vt:lpstr>Types of neural network :</vt:lpstr>
      <vt:lpstr>OVERFITTING &amp; UNDERFITTING </vt:lpstr>
      <vt:lpstr>Azure Machine Learning</vt:lpstr>
      <vt:lpstr>Azure Machine Learning</vt:lpstr>
      <vt:lpstr>Azure Machine Learning</vt:lpstr>
      <vt:lpstr>PowerPoint Presentation</vt:lpstr>
      <vt:lpstr>PowerPoint Presentation</vt:lpstr>
      <vt:lpstr>PowerPoint Presentation</vt:lpstr>
      <vt:lpstr>Features and capabilities of Azure Machine Learning</vt:lpstr>
      <vt:lpstr>PowerPoint Presentation</vt:lpstr>
      <vt:lpstr>Provisioning Azure Machine Learning resources</vt:lpstr>
      <vt:lpstr>PowerPoint Presentation</vt:lpstr>
      <vt:lpstr>Azure Machine Learning studio</vt:lpstr>
      <vt:lpstr>PowerPoint Presentation</vt:lpstr>
      <vt:lpstr>Azure Machine Learning studio: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&amp; machine learning lecture #3</dc:title>
  <dc:creator>hp</dc:creator>
  <cp:lastModifiedBy>Microsoft account</cp:lastModifiedBy>
  <cp:revision>117</cp:revision>
  <dcterms:created xsi:type="dcterms:W3CDTF">2024-05-15T15:08:03Z</dcterms:created>
  <dcterms:modified xsi:type="dcterms:W3CDTF">2026-07-06T04:43:45Z</dcterms:modified>
</cp:coreProperties>
</file>