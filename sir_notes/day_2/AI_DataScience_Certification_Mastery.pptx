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86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6400800" cy="6400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92608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Data Science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Mastery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34290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of ML  •  Pandas Mastery  •  Microsoft Azure AI Foundry  •  Certification Roadmap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4160520"/>
            <a:ext cx="2011680" cy="0"/>
          </a:xfrm>
          <a:prstGeom prst="line">
            <a:avLst/>
          </a:prstGeom>
          <a:noFill/>
          <a:ln w="25400">
            <a:solidFill>
              <a:srgbClr val="D4A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Touseef Ahmed Abbasi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Data Scientist &amp; Chief AI Strategist  |  Chief Trainer – AI &amp; ML Lead Program, CMSDI/TEVTA Punjab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5623560"/>
            <a:ext cx="502920" cy="50292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D4A93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5724144"/>
            <a:ext cx="301752" cy="301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" y="61722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01952" y="5623560"/>
            <a:ext cx="502920" cy="50292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D4A93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57241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73352" y="61722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090672" y="5623560"/>
            <a:ext cx="502920" cy="50292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D4A93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57241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62072" y="61722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79392" y="5623560"/>
            <a:ext cx="502920" cy="50292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D4A9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57241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50792" y="61722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Four Learning Modules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902866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286000" y="171907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Implementation of ML Models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286000" y="21305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calculus, probability, loss functions &amp; gradient descent behind every algorithm.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54096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137306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944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286000" y="29535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Library — Full Practices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2286000" y="336499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cleaning, indexing, groupby, merging and real project workflows.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88536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4371746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1788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286000" y="41879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Foundry Practices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2286000" y="459943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catalog, deployment, prompt flow, fine-tuning and responsible AI governance.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30352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522976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5606186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413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286000" y="54223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Roadmap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2286000" y="583387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 (Certiport) and AI-901 Azure AI Fundamentals — exam blueprint &amp; prep.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005840" cy="1005840"/>
          </a:xfrm>
          <a:prstGeom prst="ellipse">
            <a:avLst/>
          </a:prstGeom>
          <a:solidFill>
            <a:srgbClr val="D4A9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4203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Implementation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Machine Learning Models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equations and computation running underneath every ML algorithm.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1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— The Language of 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6555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a stack of vector and matrix operations.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386584"/>
            <a:ext cx="128016" cy="128016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585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Features: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point x = [x1, x2, ..., xn] is a feature vector in n-dimensional space.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44952"/>
            <a:ext cx="128016" cy="128016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9169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representation: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m samples becomes matrix X (m x n); weights form vector w (n x 1).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703320"/>
            <a:ext cx="128016" cy="128016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753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transformation: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output: z = X . w + b  — the dot product drives every linear layer.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4361688"/>
            <a:ext cx="128016" cy="128016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23367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layer: A(l) = f( W(l) . A(l-1) + b(l) ), applied layer by layer.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5020056"/>
            <a:ext cx="128016" cy="128016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892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Eigen-decomposition: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uses eigenvectors/eigenvalues of the covariance matrix to reduce dimensions.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2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 — Derivatives &amp; Gradients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calculus?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means finding weights that minimize a loss function. Calculus tells us the direction and rate of steepest change.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310128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derivative:  dL / dw_i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95935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2336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vector:  grad-L = [dL/dw1, ..., dL/dwn]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672584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7365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rule:  dL/dw = (dL/dy-hat) . (dy-hat/dw)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— step by step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Forward pass — compute predictions y-hat from inputs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61518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loss — compare y-hat with true label 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321868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Backward pass — apply chain rule layer by layer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382219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gradients — dL/dW for every weight matrix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442569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weights — gradient descent step (next slide)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3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&amp; Statistics for 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19975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P(A|B) = P(B|A).P(A) / P(B)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of Naive Bayes classifiers.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67" y="199750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560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Gaussian, Bernoulli &amp; Binomial distributions model feature and label behavior.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07" y="423778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&amp; Variance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E[X] and Var(X) quantify average outcome and spread of predictions.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16052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067" y="423778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8006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Likelihood Estimation fits parameters that make observed data most probable.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4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— Measuring Error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3200400"/>
                <a:gridCol w="5029200"/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 (MSE)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(1/n) sum( (y_i - y-hat_i)^2 )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(robust)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Absolute Error (MAE)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(1/n) sum( |y_i - y-hat_i| 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-(1/n) sum( y*log(p) + (1-y)*log(1-p) 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-sum( y_i * log(p_i) 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max(0, 1 - y * y-hat)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5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— The Optimization Engine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rule:   w := w  -  alpha . dL/dw          (alpha = learning rate)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7249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random weights w0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56432" y="2651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93592" y="27249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93592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93592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dL/dw at current point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64224" y="2651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27249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1384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01384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opposite to gradient direction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42832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272016" y="2651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09176" y="27249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09176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09176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loss converges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used in practice: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4846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full dataset per step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(SGD) — one sample per step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5778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 — small batch per step (most common)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/ RMSProp — adaptive learning rates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6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Linear Regression from Scratch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4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y-hat = w.x + 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(MSE)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(1/n) sum( (y - y-hat)^2 )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4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wrt 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333756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dL/dw = -(2/n) sum( x_i (y_i - y-hat_i) 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062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wrt 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42062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dL/db = -(2/n) sum( y_i - y-hat_i 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4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0" y="507492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:= w - alpha.dL/dw     b := b - alpha.dL/db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five-step loop — predict, measure loss, differentiate, update, repeat — is the mathematical core of nearly every ML model, from linear regression to deep neural networks.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005840" cy="1005840"/>
          </a:xfrm>
          <a:prstGeom prst="ellipse">
            <a:avLst/>
          </a:prstGeom>
          <a:solidFill>
            <a:srgbClr val="D4A9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4203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Library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Practices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Series basics to production-grade data wrangling workflows.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1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Basics — Series &amp; DataFrame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8544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
</a:t>
            </a: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pd.Series([10,20,30])
s.index, s.values, s.dtype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08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
  'name': ['Ali','Sara'],
  'score': [88, 92]})
df.shape, df.columns, df.dtypes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155448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Inspection Commands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/ df.tail()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df.columns.tolist()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df.nunique()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2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Reading, Writing &amp; Inspecting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5564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7556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pd.read_csv('file.csv')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pd.read_excel('file.xlsx', sheet_name='Sheet1')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df.to_csv('out.csv', index=False)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35584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355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pd.read_json('data.json')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pd.read_sql(query, connection)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df.to_sql('table', engine, if_exists='replace')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95604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Inspection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49560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df.sample(5)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df.memory_usage(deep=True)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df['col'].value_counts()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3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Missing Values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164363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the difference between a reliable model and a misleading one.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26080" y="23134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,  df.isna().mean()*100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953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fill: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26080" y="2935224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df.dropna(subset=['col'])  |  df.fillna(df['col'].mean())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5753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26080" y="3557016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-&gt;  df.drop_duplicates(inplace=True)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197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26080" y="41788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818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26080" y="48006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method: Q1, Q3 = df['x'].quantile([.25,.75])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440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reindex: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926080" y="54223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df.rename(columns={'old':'new'})  |  df.reset_index(drop=True)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4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Indexing, Selection &amp; Filtering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df.loc[row_label, col_label]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df.loc[df['age'] &gt; 30]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80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47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df.iloc[0:5, 1:3]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df.iloc[-1]  # last row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41801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42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754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df[(df['score']&gt;80) &amp; (df['pass']==True)]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80" y="41801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42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754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df.query("score &gt; 80 and city=='Lahore'")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5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GroupBy, Aggregation &amp; Pivot Tables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159791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-&gt; Apply -&gt; Combine is the core pattern behind all groupby operations.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6888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df.groupby('department')['salary'].mean()
df.groupby(['dept','year']).agg({'salary':'mean','bonus':'sum'})
pd.pivot_table(df, values='sales', index='region', columns='quarter', aggfunc='sum')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aggregations: sum, mean, count, min, max, std, nunique, first/last, custom lambda functions via .agg().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Reshape: df.melt() for wide-to-long, df.pivot() for long-to-wide, df.stack()/unstack() for MultiIndex reshaping.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6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Merging, Joining &amp; the Project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15919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datasets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011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on='id', how='left')
pd.concat([df1, df2], axis=0)
df1.join(df2, how='inner')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mini project workflow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20116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raw CSV/Excel data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24505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Inspect &amp; profile columns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288950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Clean nulls, types &amp; duplicates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9360" y="332841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 with groupby/apply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09360" y="37673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Export cleaned dataset for ML model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datasets used in this course: pandas basics notebook (Series/DataFrame drills) and a project-level notebook applying the full workflow above end-to-end.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005840" cy="1005840"/>
          </a:xfrm>
          <a:prstGeom prst="ellipse">
            <a:avLst/>
          </a:prstGeom>
          <a:solidFill>
            <a:srgbClr val="D4A9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4203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 Practices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deploying and governing AI solutions on Microsoft's unified AI platform.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Azure AI Foundry?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6555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00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is Microsoft's unified platform to explore, build, evaluate, and deploy AI models and agents in one workspace.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models — OpenAI, Meta, Mistral, Microsoft &amp; open-source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6060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 Portal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46520" y="3154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studio for prompt engineering, testing &amp; deployment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2976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4846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orchestrate multi-agent AI solutions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2976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46520" y="4846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content safety, evaluation &amp; governance tools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Catalog &amp; Deployment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 by task, license &amp; benchmark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96896" y="27889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07208" y="19202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205740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44368" y="25146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/ Customize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44368" y="31546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with your own data (optional)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5464" y="27889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65776" y="19202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202936" y="205740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02936" y="25146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02936" y="31546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quality, safety &amp; performance 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4032" y="27889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24344" y="19202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461504" y="205740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61504" y="25146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Endpoint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61504" y="31546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 or managed compute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27889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912" y="19202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720072" y="205740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20072" y="25146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Govern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20072" y="31546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usage, cost &amp; responsible-AI signals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practice: deploy a small language model as a serverless endpoint, then call it via the Foundry SDK / REST API from Python.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3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Flow, Fine-Tuning &amp;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9915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Flow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chain prompts, code steps &amp; tools into a testable, deployable flow.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on domain data to specialize a base model's behavior.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418612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SDK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for groundedness, relevance, coherence &amp; safety.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18612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Patterns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responses in your own documents using Azure AI Search + vector index.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4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AI, Governance &amp; Security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164957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built into the platform, not bolted on afterward.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487168"/>
            <a:ext cx="118872" cy="118872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35000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harmful, violent or sensitive content in prompts &amp; completions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81528"/>
            <a:ext cx="118872" cy="118872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9443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Detection: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responses not supported by provided source 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675888"/>
            <a:ext cx="118872" cy="118872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387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 governs who can deploy, edit or call models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4270248"/>
            <a:ext cx="118872" cy="118872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13308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Networking: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integration &amp; managed identity for secure endpoints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4864608"/>
            <a:ext cx="118872" cy="118872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727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Usage Monitoring:  </a:t>
            </a: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Cost Management dashboards per project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005840" cy="1005840"/>
          </a:xfrm>
          <a:prstGeom prst="ellipse">
            <a:avLst/>
          </a:prstGeom>
          <a:solidFill>
            <a:srgbClr val="D4A9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4203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Roadmap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 and AI-901: Azure AI Fundamentals — exam blueprints &amp; prep strategy.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Certification: Python Essentials </a:t>
            </a:r>
            <a:r>
              <a:rPr lang="en-US" sz="27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(Cisco)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60980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Essentials 1 &amp; 2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63040" y="19933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certification validating core programming logic and Python syntax, issued via Certiport / OpenEDG.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blueprint (PCEP-aligned)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variables &amp; I/O operators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5112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if/elif/else, loops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9136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scope &amp; exceptions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43159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dictionaries &amp; strings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7183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 &amp; file processing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basics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2697480"/>
            <a:ext cx="5120640" cy="3246120"/>
          </a:xfrm>
          <a:prstGeom prst="roundRect">
            <a:avLst>
              <a:gd name="adj" fmla="val 2535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Strategy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an interactive Python compiler daily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66560" y="38679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10+ logic/algorithm drills per topic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766560" y="43982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timed mock exams (Certiport format)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66560" y="49286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error handling &amp; exceptions deeply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766560" y="54589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pandas practice notebooks in plain Python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Certification: AI-901 — Azure AI Fundamentals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60980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 AI Fundamentals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63040" y="19933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certification covering AI/ML concepts and Azure AI service capabilities — no coding required.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697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Workload Concepts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66560" y="2697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22-27%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319272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3192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Azure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66560" y="33192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41064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410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66560" y="39410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562856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56285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66560" y="45628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84648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51846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on Azure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766560" y="5184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697480"/>
            <a:ext cx="2926080" cy="3429000"/>
          </a:xfrm>
          <a:prstGeom prst="roundRect">
            <a:avLst>
              <a:gd name="adj" fmla="val 2813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88696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Azure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86968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869680" y="3639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Vision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869680" y="39867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Language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869680" y="43342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869680" y="4681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86968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869680" y="5376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Certification Prep Timeline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5820" y="2194560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80160" y="1737360"/>
            <a:ext cx="10332720" cy="822960"/>
          </a:xfrm>
          <a:prstGeom prst="roundRect">
            <a:avLst>
              <a:gd name="adj" fmla="val 7778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373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1-2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 1 — syntax, control flow, functions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5820" y="3154680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80160" y="2697480"/>
            <a:ext cx="10332720" cy="822960"/>
          </a:xfrm>
          <a:prstGeom prst="roundRect">
            <a:avLst>
              <a:gd name="adj" fmla="val 7778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3-4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 2 — OOP, modules, exceptions + mock exam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5820" y="4114800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80160" y="3657600"/>
            <a:ext cx="10332720" cy="822960"/>
          </a:xfrm>
          <a:prstGeom prst="roundRect">
            <a:avLst>
              <a:gd name="adj" fmla="val 7778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3657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5-6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36576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— AI workloads, ML concepts, Computer Vision &amp; NLP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" y="5074920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80160" y="4617720"/>
            <a:ext cx="10332720" cy="822960"/>
          </a:xfrm>
          <a:prstGeom prst="roundRect">
            <a:avLst>
              <a:gd name="adj" fmla="val 7778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1508760" y="46177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4617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— Generative AI on Azure + Azure AI Foundry hands-on labs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623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280160" y="5577840"/>
            <a:ext cx="10332720" cy="822960"/>
          </a:xfrm>
          <a:prstGeom prst="roundRect">
            <a:avLst>
              <a:gd name="adj" fmla="val 7778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1508760" y="5577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0" y="5577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mock exams for both certifications + review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38912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1031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219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246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ML  •  Pandas Mastery  •  Azure AI Foundry  •  Certification Roadmap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Touseef Ahmed Abbasi  |  Chief Trainer, AI &amp; ML Lead Program — CMSDI / TEVTA Punjab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• Data Science • CMSDI / TEVTA Punjab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2240</Words>
  <Application>Microsoft Office PowerPoint</Application>
  <PresentationFormat>Widescreen</PresentationFormat>
  <Paragraphs>388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Data Science &amp; Certification Mastery</dc:title>
  <dc:subject>PptxGenJS Presentation</dc:subject>
  <dc:creator>Touseef Ahmed Abbasi</dc:creator>
  <cp:lastModifiedBy>Microsoft account</cp:lastModifiedBy>
  <cp:revision>2</cp:revision>
  <dcterms:created xsi:type="dcterms:W3CDTF">2026-07-06T05:13:01Z</dcterms:created>
  <dcterms:modified xsi:type="dcterms:W3CDTF">2026-07-06T13:36:23Z</dcterms:modified>
</cp:coreProperties>
</file>