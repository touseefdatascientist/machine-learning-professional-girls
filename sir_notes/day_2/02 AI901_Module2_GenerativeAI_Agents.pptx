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2977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1E2761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657600"/>
            <a:ext cx="2926080" cy="2926080"/>
          </a:xfrm>
          <a:prstGeom prst="ellipse">
            <a:avLst/>
          </a:prstGeom>
          <a:solidFill>
            <a:srgbClr val="1E2761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AI-901  ·  MICROSOFT AZURE AI FUNDAMENTALS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21792" y="196596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Generative AI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Agents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640080" y="37033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81" y="3850721"/>
            <a:ext cx="272125" cy="2721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373075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Touseef Ahmed </a:t>
            </a:r>
            <a:r>
              <a:rPr lang="en-US" sz="14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80467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627632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1746504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5727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(LLMs)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71600" y="185623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tokens, transformers &amp; embeddings power generation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350008"/>
            <a:ext cx="80467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13232" y="24688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258775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41401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371600" y="2697480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vs. user prompts, conversation history &amp; RAG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191256"/>
            <a:ext cx="80467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3232" y="331012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342900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25526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71600" y="3538728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of an agent and multi-agent systems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032504"/>
            <a:ext cx="80467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13232" y="4151376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" y="4270248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40965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&amp; Assessment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371600" y="4379976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practice and a knowledge check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AI-901  |  Module 2: Generative AI &amp; Agents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8229600" y="48143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Generative AI?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systems can produce human-like original content — poetry, prose, and even computer code.</a:t>
            </a:r>
            <a:endParaRPr lang="en-US" sz="145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magic involved — just mathematical techniques refined over years of research in statistics, data science, and machine learning.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core concepts is the first step to understanding how it powers a new generation of AI agents.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852160" y="1417320"/>
            <a:ext cx="2743200" cy="306324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6903720" y="1783080"/>
            <a:ext cx="658368" cy="658368"/>
          </a:xfrm>
          <a:prstGeom prst="ellipse">
            <a:avLst/>
          </a:prstGeom>
          <a:solidFill>
            <a:srgbClr val="141A45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4896" y="1954256"/>
            <a:ext cx="316017" cy="3160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80760" y="26060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“Any sufficiently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technology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indistinguishable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magic.”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080760" y="3886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Arthur C. Clarke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AI-901  |  Module 2: Generative AI &amp; Agents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229600" y="48143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Language Models (LLMs)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encapsulate the linguistic and semantic relationships between words, then use that knowledge to reason over language and generate relevant responses.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51460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85900" y="228600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2321" y="245242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0632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3401568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 text that starts a sequence — a question, command, or comment.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19272" y="2057400"/>
            <a:ext cx="251460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56532" y="228600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295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02152" y="30632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547872" y="3401568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identifies which prior words most influence what comes next.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089904" y="2057400"/>
            <a:ext cx="251460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027164" y="228600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3585" y="245242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72784" y="30632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318504" y="3401568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semantically correct continuation of the prompt is generated.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AI-901  |  Module 2: Generative AI &amp; Agents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8229600" y="48143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LLMS LEARN — STEP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Tokenization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break vocabulary into </a:t>
            </a: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r>
              <a:rPr lang="en-US" sz="135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words, sub-words (like “un” in “unlikely”), punctuation, and common character sequences. Each token gets a unique ID.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sentence: “I heard a dog bark loudly at a cat”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371600"/>
          <a:ext cx="3017520" cy="2688336"/>
        </p:xfrm>
        <a:graphic>
          <a:graphicData uri="http://schemas.openxmlformats.org/drawingml/2006/table">
            <a:tbl>
              <a:tblPr/>
              <a:tblGrid>
                <a:gridCol w="1508760"/>
                <a:gridCol w="1508760"/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AI-901  |  Module 2: Generative AI &amp; Agents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229600" y="48143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LLMS LEARN — STEP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Transformer: Encoder &amp; Decoder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84048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188000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28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7240" y="24231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</a:t>
            </a: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r>
              <a:rPr lang="en-US" sz="125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using </a:t>
            </a: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r>
              <a:rPr lang="en-US" sz="125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examining each token in context of the ones around it.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35204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attention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elements in parallel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results into a neural network to find the best </a:t>
            </a:r>
            <a:r>
              <a:rPr lang="en-US" sz="1150" dirty="0" smtClean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 smtClean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input data convert into machine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26280" y="269748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2816352"/>
            <a:ext cx="27432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120640" y="1508760"/>
            <a:ext cx="3474720" cy="3017520"/>
          </a:xfrm>
          <a:prstGeom prst="roundRect">
            <a:avLst>
              <a:gd name="adj" fmla="val 3030"/>
            </a:avLst>
          </a:prstGeom>
          <a:solidFill>
            <a:srgbClr val="1E2761"/>
          </a:solidFill>
          <a:ln/>
        </p:spPr>
      </p:sp>
      <p:sp>
        <p:nvSpPr>
          <p:cNvPr id="13" name="Shape 9"/>
          <p:cNvSpPr/>
          <p:nvPr/>
        </p:nvSpPr>
        <p:spPr>
          <a:xfrm>
            <a:off x="5349240" y="1737360"/>
            <a:ext cx="548640" cy="548640"/>
          </a:xfrm>
          <a:prstGeom prst="ellipse">
            <a:avLst/>
          </a:prstGeom>
          <a:solidFill>
            <a:srgbClr val="141A45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1886" y="188000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03504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5349240" y="242316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embeddings to predict the </a:t>
            </a: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most probable token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a sequence, given a prompt.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5349240" y="35204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applies attention + a feed-forward network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 — one token at a time — until complete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AI-901  |  Module 2: Generative AI &amp; Agents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8229600" y="48143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LLMS LEARN — STEP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Embeddings &amp; Semantic Similarity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token starts as a vector of numbers. After passing through the transformer, vectors become </a:t>
            </a: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vectors enriched with linguistic and semantic meaning based on context.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used in similar contexts (“dog”, “puppy”) point in similar directions in vector space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measures how semantically close two tokens are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transformers use vectors with thousands of dimensions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120640" y="1417320"/>
            <a:ext cx="3474720" cy="3200400"/>
          </a:xfrm>
          <a:prstGeom prst="roundRect">
            <a:avLst>
              <a:gd name="adj" fmla="val 2857"/>
            </a:avLst>
          </a:prstGeom>
          <a:solidFill>
            <a:srgbClr val="F6F7FB"/>
          </a:solidFill>
          <a:ln/>
          <a:effectLst>
            <a:outerShdw blurRad="101600" dist="25400" dir="5400000" algn="bl" rotWithShape="0">
              <a:srgbClr val="1E2761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0" y="4297680"/>
            <a:ext cx="2743200" cy="0"/>
          </a:xfrm>
          <a:prstGeom prst="line">
            <a:avLst/>
          </a:prstGeom>
          <a:noFill/>
          <a:ln w="19050">
            <a:solidFill>
              <a:srgbClr val="B9B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1691640"/>
            <a:ext cx="0" cy="2606040"/>
          </a:xfrm>
          <a:prstGeom prst="line">
            <a:avLst/>
          </a:prstGeom>
          <a:noFill/>
          <a:ln w="19050">
            <a:solidFill>
              <a:srgbClr val="B9BF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29400" y="2057400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8105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0" y="2286000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0391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46520" y="2468880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22219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715000" y="3794760"/>
            <a:ext cx="91440" cy="91440"/>
          </a:xfrm>
          <a:prstGeom prst="ellipse">
            <a:avLst/>
          </a:prstGeom>
          <a:solidFill>
            <a:srgbClr val="5B6180"/>
          </a:solidFill>
          <a:ln/>
        </p:spPr>
      </p:sp>
      <p:sp>
        <p:nvSpPr>
          <p:cNvPr id="16" name="Text 14"/>
          <p:cNvSpPr/>
          <p:nvPr/>
        </p:nvSpPr>
        <p:spPr>
          <a:xfrm>
            <a:off x="5394960" y="35478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543800" y="3931920"/>
            <a:ext cx="91440" cy="91440"/>
          </a:xfrm>
          <a:prstGeom prst="ellipse">
            <a:avLst/>
          </a:prstGeom>
          <a:solidFill>
            <a:srgbClr val="5B6180"/>
          </a:solidFill>
          <a:ln/>
        </p:spPr>
      </p:sp>
      <p:sp>
        <p:nvSpPr>
          <p:cNvPr id="18" name="Text 16"/>
          <p:cNvSpPr/>
          <p:nvPr/>
        </p:nvSpPr>
        <p:spPr>
          <a:xfrm>
            <a:off x="7223760" y="36850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skateboard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94960" y="43708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space (simplified)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AI-901  |  Module 2: Generative AI &amp; Agents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0" y="48143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LLMS LEARN — STEP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Completions From Prompts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874520" cy="288036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783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93292" y="210312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5448" y="2255276"/>
            <a:ext cx="280904" cy="2809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2834640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Attention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85800" y="3337560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training, tokens after the current one are hidden so the model must predict them.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606040" y="1691640"/>
            <a:ext cx="1874520" cy="288036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715768" y="1783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250692" y="210312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2848" y="2255276"/>
            <a:ext cx="280904" cy="28090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715768" y="2834640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&amp; Compare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2743200" y="3337560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proposes a token, compares it to the real next token, and adjusts its weights.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663440" y="1691640"/>
            <a:ext cx="1874520" cy="288036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4773168" y="1783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308092" y="210312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0248" y="2255276"/>
            <a:ext cx="280904" cy="28090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773168" y="2834640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&amp; Repeat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4800600" y="3337560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predicted token is appended to the sequence, and the process repeats.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720840" y="1691640"/>
            <a:ext cx="1874520" cy="288036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6830568" y="1783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7365492" y="210312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7648" y="2255276"/>
            <a:ext cx="280904" cy="28090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830568" y="2834640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Ends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6858000" y="3337560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continues until the decoder predicts the sequence is complete.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AI-901  |  Module 2: Generative AI &amp; Agents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8229600" y="48143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LLMS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Types of Prompts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141A45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183428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83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2860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model's behavior, tone, and constraints — usually defined by the application.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77240" y="315468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141A45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32918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“You're a helpful assistant that responds in a cheerful, friendly manner.”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146304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92040" y="169164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4686" y="1834286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77840" y="1783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Prompt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892040" y="22860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Elicits a response to a specific question or instruction from the person using the app.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892040" y="315468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6F7FB"/>
          </a:solidFill>
          <a:ln/>
        </p:spPr>
      </p:sp>
      <p:sp>
        <p:nvSpPr>
          <p:cNvPr id="17" name="Text 13"/>
          <p:cNvSpPr/>
          <p:nvPr/>
        </p:nvSpPr>
        <p:spPr>
          <a:xfrm>
            <a:off x="5074920" y="32918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“Summarize the key considerations for adopting generative AI, as no more than six bullet points.”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AI-901  |  Module 2: Generative AI &amp; Agents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8229600" y="48143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LLMS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Context: Conversation History &amp; RAG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182239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37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24028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track prior prompts and completions, feeding summarized history back into new prompts.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keeps the conversation consistent — a follow-up question is understood in relation to what came before.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146304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4892040" y="1691640"/>
            <a:ext cx="502920" cy="502920"/>
          </a:xfrm>
          <a:prstGeom prst="ellipse">
            <a:avLst/>
          </a:prstGeom>
          <a:solidFill>
            <a:srgbClr val="141A45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2799" y="182239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1737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Augmented Generation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892040" y="242316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retrieves relevant information — documents, emails, policies — to 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model's response in real data, not just general knowledge.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AI-901  |  Module 2: Generative AI &amp; Agents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8229600" y="48143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LLMS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Tips for Better Prompts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874520" cy="3017520"/>
          </a:xfrm>
          <a:prstGeom prst="roundRect">
            <a:avLst>
              <a:gd name="adj" fmla="val 4878"/>
            </a:avLst>
          </a:prstGeom>
          <a:solidFill>
            <a:srgbClr val="F6F7FB"/>
          </a:solidFill>
          <a:ln/>
          <a:effectLst>
            <a:outerShdw blurRad="101600" dist="25400" dir="5400000" algn="bl" rotWithShape="0">
              <a:srgbClr val="1E2761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93292" y="187452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5448" y="2026676"/>
            <a:ext cx="280904" cy="280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6517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Clear &amp; Specific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329184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instructions and questions work better than vague language.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606040" y="1600200"/>
            <a:ext cx="1874520" cy="3017520"/>
          </a:xfrm>
          <a:prstGeom prst="roundRect">
            <a:avLst>
              <a:gd name="adj" fmla="val 4878"/>
            </a:avLst>
          </a:prstGeom>
          <a:solidFill>
            <a:srgbClr val="F6F7FB"/>
          </a:solidFill>
          <a:ln/>
          <a:effectLst>
            <a:outerShdw blurRad="101600" dist="25400" dir="5400000" algn="bl" rotWithShape="0">
              <a:srgbClr val="1E2761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50692" y="187452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2848" y="2026676"/>
            <a:ext cx="280904" cy="2809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97480" y="26517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Context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743200" y="329184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 the topic, audience, or format you want in the response.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663440" y="1600200"/>
            <a:ext cx="1874520" cy="3017520"/>
          </a:xfrm>
          <a:prstGeom prst="roundRect">
            <a:avLst>
              <a:gd name="adj" fmla="val 4878"/>
            </a:avLst>
          </a:prstGeom>
          <a:solidFill>
            <a:srgbClr val="F6F7FB"/>
          </a:solidFill>
          <a:ln/>
          <a:effectLst>
            <a:outerShdw blurRad="101600" dist="25400" dir="5400000" algn="bl" rotWithShape="0">
              <a:srgbClr val="1E2761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308092" y="187452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0248" y="2026676"/>
            <a:ext cx="280904" cy="2809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54880" y="26517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Examples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800600" y="329184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 a certain style, show the model an example of it.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720840" y="1600200"/>
            <a:ext cx="1874520" cy="3017520"/>
          </a:xfrm>
          <a:prstGeom prst="roundRect">
            <a:avLst>
              <a:gd name="adj" fmla="val 4878"/>
            </a:avLst>
          </a:prstGeom>
          <a:solidFill>
            <a:srgbClr val="F6F7FB"/>
          </a:solidFill>
          <a:ln/>
          <a:effectLst>
            <a:outerShdw blurRad="101600" dist="25400" dir="5400000" algn="bl" rotWithShape="0">
              <a:srgbClr val="1E2761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65492" y="187452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7648" y="2026676"/>
            <a:ext cx="280904" cy="28090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12280" y="26517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Structure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858000" y="329184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bullet points, tables, or numbered lists for clarity.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AI-901  |  Module 2: Generative AI &amp; Agents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8229600" y="48143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EVOLUTION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 of an AI Agent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software applications built on generative AI that reason, use tools, and take action — not just answer questions.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514600" cy="26060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85900" y="224028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2321" y="240670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0632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49808" y="3474720"/>
            <a:ext cx="21122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— the agent's brain — for language understanding and reasoning.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19272" y="2011680"/>
            <a:ext cx="2514600" cy="26060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56532" y="224028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2953" y="240670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02152" y="30632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3520440" y="3474720"/>
            <a:ext cx="21122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prompt defining the agent's role and behavior — its job description.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89904" y="2011680"/>
            <a:ext cx="2514600" cy="26060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027164" y="224028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3585" y="240670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72784" y="30632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6291072" y="3474720"/>
            <a:ext cx="21122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tools (search, databases) and action tools (email, calendars, devices).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AI-901  |  Module 2: Generative AI &amp; Agents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8229600" y="48143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EVOLUTION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 Systems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one agent doing everything, multiple specialized agents 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3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one gathers data, another analyzes it, a third takes action. Agents communicate through prompts to determine tasks and ownership.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794760"/>
            <a:ext cx="374904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7947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Together: an AI-powered workforce for complex workflows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583680" y="219456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6720840" y="23317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7261" y="2498141"/>
            <a:ext cx="307238" cy="30723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669280" y="1783080"/>
            <a:ext cx="1371600" cy="86868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040880" y="1783080"/>
            <a:ext cx="1371600" cy="86868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040880" y="2651760"/>
            <a:ext cx="0" cy="141732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303520" y="1417320"/>
            <a:ext cx="731520" cy="731520"/>
          </a:xfrm>
          <a:prstGeom prst="ellipse">
            <a:avLst/>
          </a:prstGeom>
          <a:solidFill>
            <a:srgbClr val="F6F7FB"/>
          </a:solidFill>
          <a:ln w="19050">
            <a:solidFill>
              <a:srgbClr val="CADCFC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8968" y="1572768"/>
            <a:ext cx="420624" cy="4206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983480" y="2194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046720" y="1417320"/>
            <a:ext cx="731520" cy="731520"/>
          </a:xfrm>
          <a:prstGeom prst="ellipse">
            <a:avLst/>
          </a:prstGeom>
          <a:solidFill>
            <a:srgbClr val="F6F7FB"/>
          </a:solidFill>
          <a:ln w="19050">
            <a:solidFill>
              <a:srgbClr val="CADCFC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2168" y="1572768"/>
            <a:ext cx="420624" cy="4206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726680" y="2194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675120" y="3703320"/>
            <a:ext cx="731520" cy="731520"/>
          </a:xfrm>
          <a:prstGeom prst="ellipse">
            <a:avLst/>
          </a:prstGeom>
          <a:solidFill>
            <a:srgbClr val="F6F7FB"/>
          </a:solidFill>
          <a:ln w="19050">
            <a:solidFill>
              <a:srgbClr val="CADCFC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0568" y="3858768"/>
            <a:ext cx="420624" cy="42062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55080" y="4480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457200" y="48143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AI-901  |  Module 2: Generative AI &amp; Agents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8229600" y="48143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200400" cy="3200400"/>
          </a:xfrm>
          <a:prstGeom prst="ellipse">
            <a:avLst/>
          </a:prstGeom>
          <a:solidFill>
            <a:srgbClr val="1E2761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474720"/>
            <a:ext cx="2926080" cy="2926080"/>
          </a:xfrm>
          <a:prstGeom prst="ellipse">
            <a:avLst/>
          </a:prstGeom>
          <a:solidFill>
            <a:srgbClr val="1E2761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SUMMARY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8229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78" y="1786738"/>
            <a:ext cx="175565" cy="1755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66420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predict completions from prompts using tokens, transformers, and embeddings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225856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78" y="2353666"/>
            <a:ext cx="175565" cy="17556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231136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Well-crafted prompts — clear, contextual, with examples and structure — improve results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282549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78" y="2920594"/>
            <a:ext cx="175565" cy="17556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2798064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grounds model responses in real organizational data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640080" y="339242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78" y="3487522"/>
            <a:ext cx="175565" cy="17556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88720" y="336499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combine a model, instructions, and tools to reason and take action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640080" y="395935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78" y="4054450"/>
            <a:ext cx="175565" cy="17556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88720" y="39319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systems let specialized agents collaborate on complex workflows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A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next: Exercise — Explore Generative AI  ·  Module Assessment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1103</Words>
  <Application>Microsoft Office PowerPoint</Application>
  <PresentationFormat>On-screen Show (16:9)</PresentationFormat>
  <Paragraphs>185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AI-901 Module 2: Introduction to Generative AI and Agents</dc:title>
  <dc:subject>PptxGenJS Presentation</dc:subject>
  <dc:creator>Touseef Ahmed Abbasi</dc:creator>
  <cp:lastModifiedBy>Microsoft account</cp:lastModifiedBy>
  <cp:revision>4</cp:revision>
  <dcterms:created xsi:type="dcterms:W3CDTF">2026-07-05T08:20:35Z</dcterms:created>
  <dcterms:modified xsi:type="dcterms:W3CDTF">2026-07-06T05:01:56Z</dcterms:modified>
</cp:coreProperties>
</file>