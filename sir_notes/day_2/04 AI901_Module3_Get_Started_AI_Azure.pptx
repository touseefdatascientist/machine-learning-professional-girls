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657600"/>
            <a:ext cx="2926080" cy="292608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·  MICROSOFT AZURE AI FUNDAMENTALS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 ·  Hands-On Track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1828800"/>
            <a:ext cx="8046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Started With AI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Azure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Focus: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structure  ·  Microsoft Foundry  ·  endpoints &amp; REST calls  ·  hands-on exercise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033601"/>
            <a:ext cx="272125" cy="2721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39136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Touseef Ahmed Abbasi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Trainer  ·  AI &amp; ML Lead Program  ·  CMSDI / TEVTA Punjab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Build Toward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046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276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4650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72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Azure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85623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services, tenants, subscriptions &amp; resource groups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350008"/>
            <a:ext cx="8046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4688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58775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4140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AI Apps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71600" y="269748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hosting, scaling &amp; data storage on Azure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91256"/>
            <a:ext cx="8046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31012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42900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2552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353872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agents, tools &amp; knowledge in one platform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32504"/>
            <a:ext cx="8046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415137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27024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096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&amp; Exercise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371600" y="437997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 Foundry model with a real REST request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3: Get Started with AI in Azure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Azure?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is a cloud platform — services you use over the internet instead of running everything on your own hardware. It lets you develop AI apps and agents that scale globally, securely.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sx="100000" sy="100000" kx="0" ky="0" algn="bl" rotWithShape="0" blurRad="101600" dist="25400" dir="5400000">
              <a:srgbClr val="1E2761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11580" y="23774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226" y="252008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63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4747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applications and workloads — like renting scalable computers in the cloud.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21488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sx="100000" sy="100000" kx="0" ky="0" algn="bl" rotWithShape="0" blurRad="101600" dist="25400" dir="5400000">
              <a:srgbClr val="1E2761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8980" y="23774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626" y="25200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3063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743200" y="34747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manage data: files, databases, images, and backups.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21488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sx="100000" sy="100000" kx="0" ky="0" algn="bl" rotWithShape="0" blurRad="101600" dist="25400" dir="5400000">
              <a:srgbClr val="1E2761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26380" y="23774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026" y="252008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3063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800600" y="34747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resources to each other, the internet, and your organization.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720840" y="21488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sx="100000" sy="100000" kx="0" ky="0" algn="bl" rotWithShape="0" blurRad="101600" dist="25400" dir="5400000">
              <a:srgbClr val="1E2761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83780" y="23774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426" y="252008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12280" y="3063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858000" y="34747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platforms to build and host apps without managing servers.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3: Get Started with AI in Azure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Azure's Organizational Structure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organized top-down — practical to know before you create your first resource.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41A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653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737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926080" y="173736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organization's home base and identity in Microsoft's cloud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05840" y="2395728"/>
            <a:ext cx="713232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52374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3957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83280" y="239572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billing container tying usage to a payment method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1463040" y="3054096"/>
            <a:ext cx="6217920" cy="548640"/>
          </a:xfrm>
          <a:prstGeom prst="roundRect">
            <a:avLst>
              <a:gd name="adj" fmla="val 13333"/>
            </a:avLst>
          </a:prstGeom>
          <a:solidFill>
            <a:srgbClr val="3A4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18211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0540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840480" y="305409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holding related resources, managed together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1920240" y="3712464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84048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468880" y="3712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297680" y="371246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individual service — a storage account, database, or Foundry resource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3: Get Started with AI in Azure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Azure Portal — Your Control Center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portal.azure.com  —  a centralized, web-based UI for every Azure service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6F7FB"/>
          </a:solidFill>
          <a:ln/>
          <a:effectLst>
            <a:outerShdw sx="100000" sy="100000" kx="0" ky="0" algn="bl" rotWithShape="0" blurRad="76200" dist="25400" dir="5400000">
              <a:srgbClr val="1E2761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0299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14884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288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resources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82880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6F7FB"/>
          </a:solidFill>
          <a:ln/>
          <a:effectLst>
            <a:outerShdw sx="100000" sy="100000" kx="0" ky="0" algn="bl" rotWithShape="0" blurRad="76200" dist="25400" dir="5400000">
              <a:srgbClr val="1E2761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20299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21488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8288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configure services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943600" y="182880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6F7FB"/>
          </a:solidFill>
          <a:ln/>
          <a:effectLst>
            <a:outerShdw sx="100000" sy="100000" kx="0" ky="0" algn="bl" rotWithShape="0" blurRad="76200" dist="25400" dir="5400000">
              <a:srgbClr val="1E2761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080760" y="20299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14884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29400" y="18288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usage &amp; health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28803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6F7FB"/>
          </a:solidFill>
          <a:ln/>
          <a:effectLst>
            <a:outerShdw sx="100000" sy="100000" kx="0" ky="0" algn="bl" rotWithShape="0" blurRad="76200" dist="25400" dir="5400000">
              <a:srgbClr val="1E2761">
                <a:alpha val="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85800" y="308152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200400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identities &amp; access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3246120" y="28803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6F7FB"/>
          </a:solidFill>
          <a:ln/>
          <a:effectLst>
            <a:outerShdw sx="100000" sy="100000" kx="0" ky="0" algn="bl" rotWithShape="0" blurRad="76200" dist="25400" dir="5400000">
              <a:srgbClr val="1E2761">
                <a:alpha val="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383280" y="308152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20040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31920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billing &amp; costs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943600" y="28803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6F7FB"/>
          </a:solidFill>
          <a:ln/>
          <a:effectLst>
            <a:outerShdw sx="100000" sy="100000" kx="0" ky="0" algn="bl" rotWithShape="0" blurRad="76200" dist="25400" dir="5400000">
              <a:srgbClr val="1E2761">
                <a:alpha val="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080760" y="308152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3200400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29400" y="28803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Foundry &amp; AI services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548640" y="39776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30" name="Text 22"/>
          <p:cNvSpPr/>
          <p:nvPr/>
        </p:nvSpPr>
        <p:spPr>
          <a:xfrm>
            <a:off x="731520" y="39776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tip: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can also be created programmatically — via Azure CLI or scripts — for repeatable, automated deployments.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3: Get Started with AI in Azure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Security: Keys, Secrets &amp; Key Vault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any sensitive value an app must keep hidden. A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authenticates your request to an endpoint. Azure stores secrets in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never in code.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148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11580" y="25146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226" y="265724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2461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calls the model's endpoint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3108960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06040" y="205740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715768" y="2148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268980" y="25146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626" y="265724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43200" y="32461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includes a key to authenticate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3108960"/>
            <a:ext cx="164592" cy="1645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663440" y="205740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4773168" y="2148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326380" y="25146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9026" y="2657246"/>
            <a:ext cx="263347" cy="26334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00600" y="32461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 stored in Azure Key Vault as a secret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108960"/>
            <a:ext cx="164592" cy="16459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720840" y="205740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24" name="Text 16"/>
          <p:cNvSpPr/>
          <p:nvPr/>
        </p:nvSpPr>
        <p:spPr>
          <a:xfrm>
            <a:off x="6830568" y="2148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7383780" y="2514600"/>
            <a:ext cx="548640" cy="548640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6426" y="2657246"/>
            <a:ext cx="263347" cy="263347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858000" y="32461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retrieves the secret securely at runtime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3: Get Started with AI in Azure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&amp; Scaling Your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6F7FB"/>
          </a:solidFill>
          <a:ln/>
          <a:effectLst>
            <a:outerShdw sx="100000" sy="100000" kx="0" ky="0" algn="bl" rotWithShape="0" blurRad="101600" dist="25400" dir="5400000">
              <a:srgbClr val="1E2761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Options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Kubernetes Service (AKS)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containerized workloads at scale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web apps, APIs &amp; background jobs quickly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892040" y="1664208"/>
            <a:ext cx="457200" cy="457200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78308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(Horizontal)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92040" y="2148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instances of your application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663440" y="301752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92040" y="321868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333756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(Vertical)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92040" y="3703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CPU / memory on the existing instance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3: Get Started with AI in Azure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Storage for AI Applications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apps rely on several types of data, each serving a different purpose: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746504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984248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the AI model patterns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746504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28032" y="1984248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user or system input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" y="2432304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2670048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or generated responses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37744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2432304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2670048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supporting user-specific continuity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" y="3118104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config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3355848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how the AI app behaves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063240"/>
            <a:ext cx="3931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8032" y="3118104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telemetry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8032" y="3355848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optimization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options: </a:t>
            </a:r>
            <a:pPr indent="0" marL="0">
              <a:buNone/>
            </a:pPr>
            <a:r>
              <a:rPr lang="en-US" sz="11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Database  ·  Azure Cosmos DB  ·  Azure Database for PostgreSQL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3: Get Started with AI in Azure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Foundry: One Platform for AI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enterprise-grade PaaS for building, deploying, and managing AI apps and agents.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874520" cy="269748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sx="100000" sy="100000" kx="0" ky="0" algn="bl" rotWithShape="0" blurRad="101600" dist="25400" dir="5400000">
              <a:srgbClr val="1E2761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93292" y="2103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448" y="2255276"/>
            <a:ext cx="280904" cy="280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2004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models — GPT-5 family, Claude, Mistral, Llama &amp; more — via the model catalog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1874520"/>
            <a:ext cx="1874520" cy="269748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sx="100000" sy="100000" kx="0" ky="0" algn="bl" rotWithShape="0" blurRad="101600" dist="25400" dir="5400000">
              <a:srgbClr val="1E2761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50692" y="2103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848" y="2255276"/>
            <a:ext cx="280904" cy="280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743200" y="32004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task-oriented agents that reason, call tools, and automate workflows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1874520"/>
            <a:ext cx="1874520" cy="269748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sx="100000" sy="100000" kx="0" ky="0" algn="bl" rotWithShape="0" blurRad="101600" dist="25400" dir="5400000">
              <a:srgbClr val="1E2761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08092" y="2103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248" y="2255276"/>
            <a:ext cx="280904" cy="280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800600" y="32004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Speech, vision, language &amp; document intelligence services, ready to integrate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720840" y="1874520"/>
            <a:ext cx="1874520" cy="269748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sx="100000" sy="100000" kx="0" ky="0" algn="bl" rotWithShape="0" blurRad="101600" dist="25400" dir="5400000">
              <a:srgbClr val="1E2761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65492" y="2103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648" y="2255276"/>
            <a:ext cx="280904" cy="280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12280" y="2834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858000" y="320040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IQ grounds agents in your organization's own data, with citations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3: Get Started with AI in Azure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Foundry Resource vs. Foundry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7766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Resource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Azure resource that provides platform capabilities: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(Microsoft, partner, OpenAI-compatible)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Foundry's agent service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governance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security, quotas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4173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6459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799" y="177667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Project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9204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workspace inside the resource where you build and manage: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92040" y="26060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evaluations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datasets &amp; vector indexes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(AI logic) &amp; connections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Project-specific settings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3: Get Started with AI in Azure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 App in Foundry Portal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74520" cy="30632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91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93292" y="20116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448" y="2163836"/>
            <a:ext cx="280904" cy="280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74320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&amp; Create Project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3832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into Foundry portal with your Azure subscription and create a Foundry project.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1600200"/>
            <a:ext cx="1874520" cy="30632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715768" y="1691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50692" y="20116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848" y="2163836"/>
            <a:ext cx="280904" cy="280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15768" y="274320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Deploy a Model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743200" y="33832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model from the Model Catalog and deploy it.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1600200"/>
            <a:ext cx="1874520" cy="30632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773168" y="1691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308092" y="20116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248" y="2163836"/>
            <a:ext cx="280904" cy="2809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73168" y="274320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the Playground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00600" y="33832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prompts, test responses, and configure parameters.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720840" y="1600200"/>
            <a:ext cx="1874520" cy="30632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830568" y="1691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7365492" y="20116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648" y="2163836"/>
            <a:ext cx="280904" cy="28090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30568" y="274320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in Your App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58000" y="33832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configured model from your own client application.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3: Get Started with AI in Azure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&amp; Server Responsibilities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UI or CLI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user input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input into a prompt / API request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request to the model endpoint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returned output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3931920" cy="3063240"/>
          </a:xfrm>
          <a:prstGeom prst="roundRect">
            <a:avLst>
              <a:gd name="adj" fmla="val 2985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892040" y="1691640"/>
            <a:ext cx="502920" cy="502920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799" y="18223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(Model Deployment)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92040" y="22860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the prompt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inference on the model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system instructions &amp; safety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generated output (text, image, JSON)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3: Get Started with AI in Azure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CALLING 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 &amp; REST Requests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Foundry model is reachable through a unique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secured with a key or Entra ID token. Apps call it using a REST request.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1965960"/>
          </a:xfrm>
          <a:prstGeom prst="roundRect">
            <a:avLst>
              <a:gd name="adj" fmla="val 3721"/>
            </a:avLst>
          </a:prstGeom>
          <a:solidFill>
            <a:srgbClr val="1014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\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https://YOUR-RESOURCE.services.ai.azure.com/.../responses \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 application/json" \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C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"Authorization: Bearer $AUTH_TOKEN" \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 "model": "gpt-4.1-mini",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"input": "What is an AI application?" }'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92" y="4123212"/>
            <a:ext cx="184343" cy="184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4023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carry auth &amp; format metadata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402336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412" y="4123212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4023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is JSON — includes the model &amp; prompt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26480" y="402336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332" y="4123212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29400" y="4023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returns JSON with the generated output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3: Get Started with AI in Azure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Exercise: Get Started With Microsoft Foundry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 ·  Hands-on lab in the Foundry portal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41A45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75688"/>
            <a:ext cx="457200" cy="457200"/>
          </a:xfrm>
          <a:prstGeom prst="ellipse">
            <a:avLst/>
          </a:prstGeom>
          <a:solidFill>
            <a:srgbClr val="222B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19456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920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Foundry resource and project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92024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41A45"/>
          </a:solidFill>
          <a:ln/>
        </p:spPr>
      </p:sp>
      <p:sp>
        <p:nvSpPr>
          <p:cNvPr id="10" name="Shape 7"/>
          <p:cNvSpPr/>
          <p:nvPr/>
        </p:nvSpPr>
        <p:spPr>
          <a:xfrm>
            <a:off x="4828032" y="2075688"/>
            <a:ext cx="457200" cy="457200"/>
          </a:xfrm>
          <a:prstGeom prst="ellipse">
            <a:avLst/>
          </a:prstGeom>
          <a:solidFill>
            <a:srgbClr val="222B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219456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920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model from the catalog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88036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41A45"/>
          </a:solidFill>
          <a:ln/>
        </p:spPr>
      </p:sp>
      <p:sp>
        <p:nvSpPr>
          <p:cNvPr id="14" name="Shape 10"/>
          <p:cNvSpPr/>
          <p:nvPr/>
        </p:nvSpPr>
        <p:spPr>
          <a:xfrm>
            <a:off x="713232" y="3035808"/>
            <a:ext cx="457200" cy="457200"/>
          </a:xfrm>
          <a:prstGeom prst="ellipse">
            <a:avLst/>
          </a:prstGeom>
          <a:solidFill>
            <a:srgbClr val="222B5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154680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880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in the Playground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63440" y="288036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41A45"/>
          </a:solidFill>
          <a:ln/>
        </p:spPr>
      </p:sp>
      <p:sp>
        <p:nvSpPr>
          <p:cNvPr id="18" name="Shape 13"/>
          <p:cNvSpPr/>
          <p:nvPr/>
        </p:nvSpPr>
        <p:spPr>
          <a:xfrm>
            <a:off x="4828032" y="3035808"/>
            <a:ext cx="457200" cy="457200"/>
          </a:xfrm>
          <a:prstGeom prst="ellipse">
            <a:avLst/>
          </a:prstGeom>
          <a:solidFill>
            <a:srgbClr val="222B5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154680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94960" y="2880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endpoint and key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384048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41A45"/>
          </a:solidFill>
          <a:ln/>
        </p:spPr>
      </p:sp>
      <p:sp>
        <p:nvSpPr>
          <p:cNvPr id="22" name="Shape 16"/>
          <p:cNvSpPr/>
          <p:nvPr/>
        </p:nvSpPr>
        <p:spPr>
          <a:xfrm>
            <a:off x="713232" y="3995928"/>
            <a:ext cx="457200" cy="457200"/>
          </a:xfrm>
          <a:prstGeom prst="ellipse">
            <a:avLst/>
          </a:prstGeom>
          <a:solidFill>
            <a:srgbClr val="222B5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11480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80160" y="3840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REST request to the model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663440" y="384048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141A45"/>
          </a:solidFill>
          <a:ln/>
        </p:spPr>
      </p:sp>
      <p:sp>
        <p:nvSpPr>
          <p:cNvPr id="26" name="Shape 19"/>
          <p:cNvSpPr/>
          <p:nvPr/>
        </p:nvSpPr>
        <p:spPr>
          <a:xfrm>
            <a:off x="4828032" y="3995928"/>
            <a:ext cx="457200" cy="457200"/>
          </a:xfrm>
          <a:prstGeom prst="ellipse">
            <a:avLst/>
          </a:prstGeom>
          <a:solidFill>
            <a:srgbClr val="222B5E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4114800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94960" y="3840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JSON response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3: Get Started with AI in Azure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474720"/>
            <a:ext cx="2926080" cy="292608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786738"/>
            <a:ext cx="175565" cy="1755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642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organizes access through tenants, subscriptions, resource groups, and resources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2585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2353666"/>
            <a:ext cx="175565" cy="1755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23113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apps need security, hosting, scaling, and data storage working together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8254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2920594"/>
            <a:ext cx="175565" cy="1755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79806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 unifies models, agents, tools, and knowledge in one platform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33924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3487522"/>
            <a:ext cx="175565" cy="1755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36499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Foundry resource hosts platform capabilities; a Foundry project is your workspace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40080" y="39593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8" y="4054450"/>
            <a:ext cx="175565" cy="1755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39319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 call model endpoints via secured REST requests — the practical building block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 Knowledge Check  ·  Module Summary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AI-901 Module 3: Get Started with AI in Azure</dc:title>
  <dc:subject>PptxGenJS Presentation</dc:subject>
  <dc:creator>Touseef Ahmed Abbasi</dc:creator>
  <cp:lastModifiedBy>Touseef Ahmed Abbasi</cp:lastModifiedBy>
  <cp:revision>1</cp:revision>
  <dcterms:created xsi:type="dcterms:W3CDTF">2026-07-05T08:27:56Z</dcterms:created>
  <dcterms:modified xsi:type="dcterms:W3CDTF">2026-07-05T08:27:56Z</dcterms:modified>
</cp:coreProperties>
</file>